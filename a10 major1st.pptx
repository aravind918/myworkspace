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779" r:id="rId2"/>
    <p:sldId id="789" r:id="rId3"/>
    <p:sldId id="780" r:id="rId4"/>
    <p:sldId id="781" r:id="rId5"/>
    <p:sldId id="790" r:id="rId6"/>
    <p:sldId id="783" r:id="rId7"/>
    <p:sldId id="784" r:id="rId8"/>
    <p:sldId id="794" r:id="rId9"/>
    <p:sldId id="786" r:id="rId10"/>
    <p:sldId id="795" r:id="rId11"/>
    <p:sldId id="791" r:id="rId12"/>
    <p:sldId id="793" r:id="rId13"/>
    <p:sldId id="78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showGuides="1">
      <p:cViewPr varScale="1">
        <p:scale>
          <a:sx n="70" d="100"/>
          <a:sy n="70" d="100"/>
        </p:scale>
        <p:origin x="536"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4F1D50-B6A2-4019-9617-B0BA6E91FF9B}" type="datetimeFigureOut">
              <a:rPr lang="en-IN" smtClean="0"/>
              <a:t>31-10-2023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760D06-E71C-4CF6-B4AC-B8B6AF0BE466}"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7BC200F-3AD5-488B-A90C-E22EC162B81D}" type="datetime1">
              <a:rPr lang="en-IN" smtClean="0"/>
              <a:t>31-10-2023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183BA4-7B10-4BE3-A0B2-A48721054ED6}"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84BDB05-E2D4-4D29-8882-DE25842599A2}" type="datetime1">
              <a:rPr lang="en-IN" smtClean="0"/>
              <a:t>31-10-2023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183BA4-7B10-4BE3-A0B2-A48721054ED6}"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42B590-2B55-4604-B193-5B6D0EBB3818}" type="datetime1">
              <a:rPr lang="en-IN" smtClean="0"/>
              <a:t>31-10-2023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183BA4-7B10-4BE3-A0B2-A48721054ED6}"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455046D-FD36-421D-B0B6-CF2E6F2F7E01}" type="datetime1">
              <a:rPr lang="en-IN" smtClean="0"/>
              <a:t>31-10-2023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183BA4-7B10-4BE3-A0B2-A48721054ED6}"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6719C6A-C228-4666-85AF-BFCAEE8D9375}" type="datetime1">
              <a:rPr lang="en-IN" smtClean="0"/>
              <a:t>31-10-2023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0183BA4-7B10-4BE3-A0B2-A48721054ED6}"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1476AC4-8DFC-4A25-AB02-3BCD901770ED}" type="datetime1">
              <a:rPr lang="en-IN" smtClean="0"/>
              <a:t>31-10-2023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0183BA4-7B10-4BE3-A0B2-A48721054ED6}"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8A7FA7-F693-4DFB-AEDA-FE633EEC95AF}" type="datetime1">
              <a:rPr lang="en-IN" smtClean="0"/>
              <a:t>31-10-2023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0183BA4-7B10-4BE3-A0B2-A48721054ED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3C56386-F633-4E6A-B8A1-EED31EF84510}" type="datetime1">
              <a:rPr lang="en-IN" smtClean="0"/>
              <a:t>31-10-2023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183BA4-7B10-4BE3-A0B2-A48721054ED6}"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6C880F4-BE75-409D-AF89-489FEC0B9E5F}" type="datetime1">
              <a:rPr lang="en-IN" smtClean="0"/>
              <a:t>31-10-2023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0183BA4-7B10-4BE3-A0B2-A48721054ED6}"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039F6F4-037B-4332-9282-471FE71B5F7F}" type="datetime1">
              <a:rPr lang="en-IN" smtClean="0"/>
              <a:t>31-10-2023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183BA4-7B10-4BE3-A0B2-A48721054ED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EDABC32-C334-4B49-A727-D2C2C2E2FFFE}" type="datetime1">
              <a:rPr lang="en-IN" smtClean="0"/>
              <a:t>31-10-2023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0183BA4-7B10-4BE3-A0B2-A48721054ED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D12017-EE5D-4064-B320-4434A6A5A13F}" type="datetime1">
              <a:rPr lang="en-IN" smtClean="0"/>
              <a:t>31-10-2023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183BA4-7B10-4BE3-A0B2-A48721054ED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image2.jpg"/>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2386" y="0"/>
            <a:ext cx="2029613" cy="163231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2220916" y="94410"/>
            <a:ext cx="7095897" cy="1485022"/>
          </a:xfrm>
          <a:prstGeom prst="rect">
            <a:avLst/>
          </a:prstGeom>
          <a:noFill/>
        </p:spPr>
        <p:txBody>
          <a:bodyPr wrap="square">
            <a:spAutoFit/>
          </a:bodyPr>
          <a:lstStyle/>
          <a:p>
            <a:pPr marR="16510" algn="ctr">
              <a:spcBef>
                <a:spcPts val="365"/>
              </a:spcBef>
              <a:spcAft>
                <a:spcPts val="250"/>
              </a:spcAft>
            </a:pPr>
            <a:r>
              <a:rPr lang="en-IN" sz="2800" b="1" dirty="0">
                <a:effectLst/>
                <a:latin typeface="Times New Roman" panose="02020603050405020304" pitchFamily="18" charset="0"/>
                <a:ea typeface="Times New Roman" panose="02020603050405020304" pitchFamily="18" charset="0"/>
                <a:cs typeface="Times New Roman" panose="02020603050405020304" pitchFamily="18" charset="0"/>
              </a:rPr>
              <a:t>St. MARTIN’S ENGINEERING COLLEGE</a:t>
            </a:r>
            <a:endParaRPr lang="en-IN" sz="28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marR="1085850" indent="-2540" algn="ctr">
              <a:spcBef>
                <a:spcPts val="240"/>
              </a:spcBef>
              <a:spcAft>
                <a:spcPts val="250"/>
              </a:spcAf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UGC Autonomous </a:t>
            </a:r>
          </a:p>
          <a:p>
            <a:pPr marL="1143000" marR="1085850" indent="-2540" algn="ctr">
              <a:spcBef>
                <a:spcPts val="240"/>
              </a:spcBef>
              <a:spcAft>
                <a:spcPts val="250"/>
              </a:spcAft>
            </a:pPr>
            <a:r>
              <a:rPr lang="en-IN" sz="1600" b="1" dirty="0">
                <a:latin typeface="Times New Roman" panose="02020603050405020304" pitchFamily="18" charset="0"/>
                <a:ea typeface="Times New Roman" panose="02020603050405020304" pitchFamily="18" charset="0"/>
                <a:cs typeface="Mangal" panose="02040503050203030202" pitchFamily="18" charset="0"/>
              </a:rPr>
              <a:t>NBA &amp; NAAC A+ ACCREDITED</a:t>
            </a:r>
            <a:endParaRPr lang="en-IN" sz="1600" b="1" dirty="0">
              <a:latin typeface="Calibri" panose="020F0502020204030204" pitchFamily="34" charset="0"/>
              <a:ea typeface="Calibri" panose="020F0502020204030204" pitchFamily="34" charset="0"/>
              <a:cs typeface="Mangal" panose="02040503050203030202" pitchFamily="18" charset="0"/>
            </a:endParaRPr>
          </a:p>
          <a:p>
            <a:pPr marL="1143000" marR="1085850" indent="-2540" algn="ctr">
              <a:spcBef>
                <a:spcPts val="240"/>
              </a:spcBef>
              <a:spcAft>
                <a:spcPts val="250"/>
              </a:spcAf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Dhulapally, Secunderabad– 500100 </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4" name="Subtitle 2"/>
          <p:cNvSpPr txBox="1"/>
          <p:nvPr/>
        </p:nvSpPr>
        <p:spPr>
          <a:xfrm>
            <a:off x="-15240" y="1963953"/>
            <a:ext cx="12192000" cy="11005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b="1" dirty="0">
                <a:latin typeface="Times New Roman" panose="02020603050405020304" pitchFamily="18" charset="0"/>
                <a:cs typeface="Times New Roman" panose="02020603050405020304" pitchFamily="18" charset="0"/>
              </a:rPr>
              <a:t> </a:t>
            </a:r>
            <a:r>
              <a:rPr lang="en-IN" altLang="en-US" sz="2600" b="1" dirty="0">
                <a:latin typeface="Times New Roman" panose="02020603050405020304" pitchFamily="18" charset="0"/>
                <a:cs typeface="Times New Roman" panose="02020603050405020304" pitchFamily="18" charset="0"/>
              </a:rPr>
              <a:t>Automatic Municipal Water Dispensing System</a:t>
            </a:r>
          </a:p>
          <a:p>
            <a:pPr marL="0" indent="0" algn="ctr">
              <a:buNone/>
            </a:pPr>
            <a:r>
              <a:rPr lang="en-IN" altLang="en-US" sz="2600" b="1" dirty="0">
                <a:latin typeface="Times New Roman" panose="02020603050405020304" pitchFamily="18" charset="0"/>
                <a:cs typeface="Times New Roman" panose="02020603050405020304" pitchFamily="18" charset="0"/>
              </a:rPr>
              <a:t>By using IoT and RTC</a:t>
            </a:r>
          </a:p>
        </p:txBody>
      </p:sp>
      <p:sp>
        <p:nvSpPr>
          <p:cNvPr id="15" name="TextBox 14"/>
          <p:cNvSpPr txBox="1"/>
          <p:nvPr/>
        </p:nvSpPr>
        <p:spPr>
          <a:xfrm>
            <a:off x="2464435" y="3103806"/>
            <a:ext cx="7232650" cy="1991451"/>
          </a:xfrm>
          <a:prstGeom prst="rect">
            <a:avLst/>
          </a:prstGeom>
          <a:noFill/>
        </p:spPr>
        <p:txBody>
          <a:bodyPr wrap="square" rtlCol="0">
            <a:noAutofit/>
          </a:bodyPr>
          <a:lstStyle/>
          <a:p>
            <a:pPr algn="ctr"/>
            <a:r>
              <a:rPr lang="en-US" sz="2400" b="1" dirty="0">
                <a:latin typeface="Times New Roman" panose="02020603050405020304" pitchFamily="18" charset="0"/>
                <a:cs typeface="Times New Roman" panose="02020603050405020304" pitchFamily="18" charset="0"/>
              </a:rPr>
              <a:t>Batch No: </a:t>
            </a:r>
            <a:r>
              <a:rPr lang="en-IN" altLang="en-US" sz="2400" b="1" dirty="0">
                <a:latin typeface="Times New Roman" panose="02020603050405020304" pitchFamily="18" charset="0"/>
                <a:cs typeface="Times New Roman" panose="02020603050405020304" pitchFamily="18" charset="0"/>
              </a:rPr>
              <a:t>A10</a:t>
            </a:r>
            <a:r>
              <a:rPr lang="en-US" sz="2400" b="1" dirty="0">
                <a:latin typeface="Times New Roman" panose="02020603050405020304" pitchFamily="18" charset="0"/>
                <a:cs typeface="Times New Roman" panose="02020603050405020304" pitchFamily="18" charset="0"/>
              </a:rPr>
              <a:t> </a:t>
            </a:r>
          </a:p>
          <a:p>
            <a:pPr algn="ctr"/>
            <a:r>
              <a:rPr lang="en-US" sz="2400" b="1" dirty="0">
                <a:latin typeface="Times New Roman" panose="02020603050405020304" pitchFamily="18" charset="0"/>
                <a:cs typeface="Times New Roman" panose="02020603050405020304" pitchFamily="18" charset="0"/>
              </a:rPr>
              <a:t>           1. </a:t>
            </a:r>
            <a:r>
              <a:rPr lang="en-IN" altLang="en-US" sz="2400" b="1" dirty="0">
                <a:latin typeface="Times New Roman" panose="02020603050405020304" pitchFamily="18" charset="0"/>
                <a:cs typeface="Times New Roman" panose="02020603050405020304" pitchFamily="18" charset="0"/>
              </a:rPr>
              <a:t>K.Sumanth</a:t>
            </a:r>
            <a:r>
              <a:rPr lang="en-US" sz="2400" b="1" dirty="0">
                <a:latin typeface="Times New Roman" panose="02020603050405020304" pitchFamily="18" charset="0"/>
                <a:cs typeface="Times New Roman" panose="02020603050405020304" pitchFamily="18" charset="0"/>
              </a:rPr>
              <a:t> (20K81A</a:t>
            </a:r>
            <a:r>
              <a:rPr lang="en-IN" altLang="en-US" sz="2400" b="1" dirty="0">
                <a:latin typeface="Times New Roman" panose="02020603050405020304" pitchFamily="18" charset="0"/>
                <a:cs typeface="Times New Roman" panose="02020603050405020304" pitchFamily="18" charset="0"/>
              </a:rPr>
              <a:t>042</a:t>
            </a:r>
            <a:r>
              <a:rPr lang="en-US" sz="2400" b="1" dirty="0">
                <a:latin typeface="Times New Roman" panose="02020603050405020304" pitchFamily="18" charset="0"/>
                <a:cs typeface="Times New Roman" panose="02020603050405020304" pitchFamily="18" charset="0"/>
              </a:rPr>
              <a:t>5)</a:t>
            </a:r>
          </a:p>
          <a:p>
            <a:pPr algn="ctr"/>
            <a:r>
              <a:rPr lang="en-IN" altLang="en-US" sz="24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2. </a:t>
            </a:r>
            <a:r>
              <a:rPr lang="en-IN" altLang="en-US" sz="2400" b="1" dirty="0">
                <a:latin typeface="Times New Roman" panose="02020603050405020304" pitchFamily="18" charset="0"/>
                <a:cs typeface="Times New Roman" panose="02020603050405020304" pitchFamily="18" charset="0"/>
              </a:rPr>
              <a:t>M.Aravind Kumar</a:t>
            </a:r>
            <a:r>
              <a:rPr lang="en-US" sz="2400" b="1"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sym typeface="+mn-ea"/>
              </a:rPr>
              <a:t>20K81A</a:t>
            </a:r>
            <a:r>
              <a:rPr lang="en-IN" altLang="en-US" sz="2400" b="1" dirty="0">
                <a:latin typeface="Times New Roman" panose="02020603050405020304" pitchFamily="18" charset="0"/>
                <a:cs typeface="Times New Roman" panose="02020603050405020304" pitchFamily="18" charset="0"/>
                <a:sym typeface="+mn-ea"/>
              </a:rPr>
              <a:t>0430</a:t>
            </a:r>
            <a:r>
              <a:rPr lang="en-US" sz="2400" b="1" dirty="0">
                <a:latin typeface="Times New Roman" panose="02020603050405020304" pitchFamily="18" charset="0"/>
                <a:cs typeface="Times New Roman" panose="02020603050405020304" pitchFamily="18" charset="0"/>
              </a:rPr>
              <a:t>)</a:t>
            </a:r>
          </a:p>
          <a:p>
            <a:pPr algn="ctr"/>
            <a:r>
              <a:rPr lang="en-US" sz="2400" b="1" dirty="0">
                <a:latin typeface="Times New Roman" panose="02020603050405020304" pitchFamily="18" charset="0"/>
                <a:cs typeface="Times New Roman" panose="02020603050405020304" pitchFamily="18" charset="0"/>
              </a:rPr>
              <a:t> </a:t>
            </a:r>
            <a:r>
              <a:rPr lang="en-IN" altLang="en-US" sz="24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 3. </a:t>
            </a:r>
            <a:r>
              <a:rPr lang="en-IN" altLang="en-US" sz="2400" b="1" dirty="0">
                <a:latin typeface="Times New Roman" panose="02020603050405020304" pitchFamily="18" charset="0"/>
                <a:cs typeface="Times New Roman" panose="02020603050405020304" pitchFamily="18" charset="0"/>
              </a:rPr>
              <a:t>N.Shravani</a:t>
            </a:r>
            <a:r>
              <a:rPr lang="en-US" sz="24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sym typeface="+mn-ea"/>
              </a:rPr>
              <a:t>20K81A</a:t>
            </a:r>
            <a:r>
              <a:rPr lang="en-IN" altLang="en-US" sz="2400" b="1" dirty="0">
                <a:latin typeface="Times New Roman" panose="02020603050405020304" pitchFamily="18" charset="0"/>
                <a:cs typeface="Times New Roman" panose="02020603050405020304" pitchFamily="18" charset="0"/>
                <a:sym typeface="+mn-ea"/>
              </a:rPr>
              <a:t>0438</a:t>
            </a:r>
            <a:r>
              <a:rPr lang="en-US" sz="2400" b="1" dirty="0">
                <a:latin typeface="Times New Roman" panose="02020603050405020304" pitchFamily="18" charset="0"/>
                <a:cs typeface="Times New Roman" panose="02020603050405020304" pitchFamily="18" charset="0"/>
              </a:rPr>
              <a:t>)</a:t>
            </a:r>
          </a:p>
          <a:p>
            <a:pPr algn="ctr"/>
            <a:r>
              <a:rPr lang="en-US" sz="2400" b="1" dirty="0">
                <a:latin typeface="Times New Roman" panose="02020603050405020304" pitchFamily="18" charset="0"/>
                <a:cs typeface="Times New Roman" panose="02020603050405020304" pitchFamily="18" charset="0"/>
              </a:rPr>
              <a:t>        4. </a:t>
            </a:r>
            <a:r>
              <a:rPr lang="en-IN" altLang="en-US" sz="2400" b="1" dirty="0" err="1">
                <a:latin typeface="Times New Roman" panose="02020603050405020304" pitchFamily="18" charset="0"/>
                <a:cs typeface="Times New Roman" panose="02020603050405020304" pitchFamily="18" charset="0"/>
              </a:rPr>
              <a:t>T.Nishanth</a:t>
            </a:r>
            <a:r>
              <a:rPr lang="en-US" sz="2400" b="1"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sym typeface="+mn-ea"/>
              </a:rPr>
              <a:t>2</a:t>
            </a:r>
            <a:r>
              <a:rPr lang="en-IN" altLang="en-US" sz="2400" b="1" dirty="0">
                <a:latin typeface="Times New Roman" panose="02020603050405020304" pitchFamily="18" charset="0"/>
                <a:cs typeface="Times New Roman" panose="02020603050405020304" pitchFamily="18" charset="0"/>
                <a:sym typeface="+mn-ea"/>
              </a:rPr>
              <a:t>1K85A0404</a:t>
            </a:r>
            <a:r>
              <a:rPr lang="en-US" sz="2400" b="1" dirty="0">
                <a:latin typeface="Times New Roman" panose="02020603050405020304" pitchFamily="18" charset="0"/>
                <a:cs typeface="Times New Roman" panose="02020603050405020304" pitchFamily="18" charset="0"/>
              </a:rPr>
              <a:t>)</a:t>
            </a:r>
          </a:p>
        </p:txBody>
      </p:sp>
      <p:sp>
        <p:nvSpPr>
          <p:cNvPr id="16" name="TextBox 15"/>
          <p:cNvSpPr txBox="1"/>
          <p:nvPr/>
        </p:nvSpPr>
        <p:spPr>
          <a:xfrm>
            <a:off x="0" y="5134610"/>
            <a:ext cx="12192000" cy="1598930"/>
          </a:xfrm>
          <a:prstGeom prst="rect">
            <a:avLst/>
          </a:prstGeom>
          <a:noFill/>
        </p:spPr>
        <p:txBody>
          <a:bodyPr wrap="square" rtlCol="0">
            <a:noAutofit/>
          </a:bodyPr>
          <a:lstStyle/>
          <a:p>
            <a:pPr algn="ctr"/>
            <a:r>
              <a:rPr lang="en-US" sz="2400" b="1" dirty="0">
                <a:latin typeface="Times New Roman" panose="02020603050405020304" pitchFamily="18" charset="0"/>
                <a:cs typeface="Times New Roman" panose="02020603050405020304" pitchFamily="18" charset="0"/>
              </a:rPr>
              <a:t>Under the Guidance of</a:t>
            </a:r>
          </a:p>
          <a:p>
            <a:pPr algn="ctr"/>
            <a:r>
              <a:rPr lang="en-US" sz="2400" b="1" dirty="0">
                <a:latin typeface="Times New Roman" panose="02020603050405020304" pitchFamily="18" charset="0"/>
                <a:cs typeface="Times New Roman" panose="02020603050405020304" pitchFamily="18" charset="0"/>
              </a:rPr>
              <a:t>Mr. </a:t>
            </a:r>
            <a:r>
              <a:rPr lang="en-IN" altLang="en-US" sz="2400" b="1" dirty="0">
                <a:latin typeface="Times New Roman" panose="02020603050405020304" pitchFamily="18" charset="0"/>
                <a:cs typeface="Times New Roman" panose="02020603050405020304" pitchFamily="18" charset="0"/>
              </a:rPr>
              <a:t>Mood Venkanna</a:t>
            </a:r>
            <a:r>
              <a:rPr lang="en-US" sz="2400" b="1" dirty="0">
                <a:latin typeface="Times New Roman" panose="02020603050405020304" pitchFamily="18" charset="0"/>
                <a:cs typeface="Times New Roman" panose="02020603050405020304" pitchFamily="18" charset="0"/>
              </a:rPr>
              <a:t> </a:t>
            </a:r>
          </a:p>
          <a:p>
            <a:pPr algn="ctr"/>
            <a:r>
              <a:rPr lang="en-US" sz="2400" b="1" dirty="0">
                <a:latin typeface="Times New Roman" panose="02020603050405020304" pitchFamily="18" charset="0"/>
                <a:cs typeface="Times New Roman" panose="02020603050405020304" pitchFamily="18" charset="0"/>
              </a:rPr>
              <a:t>Ass</a:t>
            </a:r>
            <a:r>
              <a:rPr lang="en-IN" altLang="en-US" sz="2400" b="1" dirty="0">
                <a:latin typeface="Times New Roman" panose="02020603050405020304" pitchFamily="18" charset="0"/>
                <a:cs typeface="Times New Roman" panose="02020603050405020304" pitchFamily="18" charset="0"/>
              </a:rPr>
              <a:t>ociate</a:t>
            </a:r>
            <a:r>
              <a:rPr lang="en-US" sz="2400" b="1" dirty="0">
                <a:latin typeface="Times New Roman" panose="02020603050405020304" pitchFamily="18" charset="0"/>
                <a:cs typeface="Times New Roman" panose="02020603050405020304" pitchFamily="18" charset="0"/>
              </a:rPr>
              <a:t> Professor</a:t>
            </a:r>
          </a:p>
          <a:p>
            <a:pPr algn="ctr"/>
            <a:r>
              <a:rPr lang="en-IN" altLang="en-US" sz="1600" b="1" dirty="0">
                <a:latin typeface="Times New Roman" panose="02020603050405020304" pitchFamily="18" charset="0"/>
                <a:cs typeface="Times New Roman" panose="02020603050405020304" pitchFamily="18" charset="0"/>
              </a:rPr>
              <a:t>(</a:t>
            </a:r>
            <a:r>
              <a:rPr lang="en-US" sz="1600" b="1" dirty="0">
                <a:latin typeface="Times New Roman" panose="02020603050405020304" pitchFamily="18" charset="0"/>
                <a:cs typeface="Times New Roman" panose="02020603050405020304" pitchFamily="18" charset="0"/>
              </a:rPr>
              <a:t>D</a:t>
            </a:r>
            <a:r>
              <a:rPr lang="en-IN" altLang="en-US" sz="1600" b="1" dirty="0">
                <a:latin typeface="Times New Roman" panose="02020603050405020304" pitchFamily="18" charset="0"/>
                <a:cs typeface="Times New Roman" panose="02020603050405020304" pitchFamily="18" charset="0"/>
              </a:rPr>
              <a:t>ept. of ECE)</a:t>
            </a:r>
            <a:r>
              <a:rPr lang="en-US" sz="1600" b="1" dirty="0">
                <a:latin typeface="Times New Roman" panose="02020603050405020304" pitchFamily="18" charset="0"/>
                <a:cs typeface="Times New Roman" panose="02020603050405020304" pitchFamily="18" charset="0"/>
              </a:rPr>
              <a:t> </a:t>
            </a:r>
          </a:p>
        </p:txBody>
      </p:sp>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269034" y="94410"/>
            <a:ext cx="1460912" cy="1240120"/>
          </a:xfrm>
          <a:prstGeom prst="rect">
            <a:avLst/>
          </a:prstGeom>
          <a:noFill/>
        </p:spPr>
      </p:pic>
      <p:sp>
        <p:nvSpPr>
          <p:cNvPr id="2" name="TextBox 1"/>
          <p:cNvSpPr txBox="1"/>
          <p:nvPr/>
        </p:nvSpPr>
        <p:spPr>
          <a:xfrm>
            <a:off x="1" y="1579432"/>
            <a:ext cx="12191998" cy="492443"/>
          </a:xfrm>
          <a:prstGeom prst="rect">
            <a:avLst/>
          </a:prstGeom>
          <a:noFill/>
        </p:spPr>
        <p:txBody>
          <a:bodyPr wrap="square" rtlCol="0">
            <a:spAutoFit/>
          </a:bodyPr>
          <a:lstStyle/>
          <a:p>
            <a:pPr algn="ctr"/>
            <a:r>
              <a:rPr lang="en-US" sz="2600" b="1" dirty="0">
                <a:latin typeface="Times New Roman" panose="02020603050405020304" pitchFamily="18" charset="0"/>
                <a:cs typeface="Times New Roman" panose="02020603050405020304" pitchFamily="18" charset="0"/>
              </a:rPr>
              <a:t>DEPARTMENT OF </a:t>
            </a:r>
            <a:r>
              <a:rPr lang="en-IN" altLang="en-US" sz="2600" b="1" dirty="0">
                <a:latin typeface="Times New Roman" panose="02020603050405020304" pitchFamily="18" charset="0"/>
                <a:cs typeface="Times New Roman" panose="02020603050405020304" pitchFamily="18" charset="0"/>
              </a:rPr>
              <a:t>ELECTRONICS &amp;COMMUNICATION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OUTLINE </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 y="1203649"/>
            <a:ext cx="12191999" cy="4973314"/>
          </a:xfrm>
        </p:spPr>
        <p:txBody>
          <a:bodyPr>
            <a:normAutofit fontScale="92500" lnSpcReduction="10000"/>
          </a:bodyPr>
          <a:lstStyle/>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Abstract</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Introduction</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Literature Survey</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Existing System</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Proposed System</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Modules (Split –up)</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Source Code</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References </a:t>
            </a:r>
            <a:endParaRPr lang="en-IN" dirty="0"/>
          </a:p>
        </p:txBody>
      </p:sp>
      <p:sp>
        <p:nvSpPr>
          <p:cNvPr id="4" name="Date Placeholder 3"/>
          <p:cNvSpPr>
            <a:spLocks noGrp="1"/>
          </p:cNvSpPr>
          <p:nvPr>
            <p:ph type="dt" sz="half" idx="10"/>
          </p:nvPr>
        </p:nvSpPr>
        <p:spPr/>
        <p:txBody>
          <a:bodyPr/>
          <a:lstStyle/>
          <a:p>
            <a:fld id="{D121BCBC-AF21-480F-8C1A-83C58722766A}" type="datetime1">
              <a:rPr lang="en-IN" smtClean="0"/>
              <a:t>31-10-2023</a:t>
            </a:fld>
            <a:endParaRPr lang="en-IN"/>
          </a:p>
        </p:txBody>
      </p:sp>
      <p:sp>
        <p:nvSpPr>
          <p:cNvPr id="5" name="Slide Number Placeholder 4"/>
          <p:cNvSpPr>
            <a:spLocks noGrp="1"/>
          </p:cNvSpPr>
          <p:nvPr>
            <p:ph type="sldNum" sz="quarter" idx="12"/>
          </p:nvPr>
        </p:nvSpPr>
        <p:spPr/>
        <p:txBody>
          <a:bodyPr/>
          <a:lstStyle/>
          <a:p>
            <a:fld id="{A0183BA4-7B10-4BE3-A0B2-A48721054ED6}" type="slidenum">
              <a:rPr lang="en-IN" smtClean="0"/>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41325" y="916305"/>
            <a:ext cx="11226165" cy="5260975"/>
          </a:xfrm>
        </p:spPr>
        <p:txBody>
          <a:bodyPr>
            <a:noAutofit/>
          </a:bodyPr>
          <a:lstStyle/>
          <a:p>
            <a:pPr algn="just">
              <a:buFont typeface="Arial" panose="020B0604020202020204" pitchFamily="34" charset="0"/>
              <a:buChar char="•"/>
            </a:pPr>
            <a:r>
              <a:rPr lang="en-US" sz="2400" dirty="0">
                <a:solidFill>
                  <a:prstClr val="black"/>
                </a:solidFill>
                <a:latin typeface="Times New Roman" panose="02020603050405020304" pitchFamily="18" charset="0"/>
                <a:cs typeface="Times New Roman" panose="02020603050405020304" pitchFamily="18" charset="0"/>
              </a:rPr>
              <a:t>Nowadays there is a rapid development in the field of urban residential areas whereas, in case of water distribution system people are using the traditional method itself which is not automated. </a:t>
            </a:r>
          </a:p>
          <a:p>
            <a:pPr algn="just">
              <a:buFont typeface="Arial" panose="020B0604020202020204" pitchFamily="34" charset="0"/>
              <a:buChar char="•"/>
            </a:pPr>
            <a:r>
              <a:rPr lang="en-US" sz="2400" dirty="0">
                <a:solidFill>
                  <a:prstClr val="black"/>
                </a:solidFill>
                <a:latin typeface="Times New Roman" panose="02020603050405020304" pitchFamily="18" charset="0"/>
                <a:cs typeface="Times New Roman" panose="02020603050405020304" pitchFamily="18" charset="0"/>
              </a:rPr>
              <a:t>As the population grew, the demand for water has also increased and hence many efforts were made towards the development of water distribution system in order to meet the user demand.</a:t>
            </a:r>
          </a:p>
          <a:p>
            <a:pPr algn="just">
              <a:buFont typeface="Arial" panose="020B0604020202020204" pitchFamily="34" charset="0"/>
              <a:buChar char="•"/>
            </a:pPr>
            <a:r>
              <a:rPr lang="en-US" sz="2400" dirty="0">
                <a:solidFill>
                  <a:prstClr val="black"/>
                </a:solidFill>
                <a:latin typeface="Times New Roman" panose="02020603050405020304" pitchFamily="18" charset="0"/>
                <a:cs typeface="Times New Roman" panose="02020603050405020304" pitchFamily="18" charset="0"/>
              </a:rPr>
              <a:t> The existing water distribution system is facing many problems such as  water  wastage etc. Therefore, an automated system is proposed which is more effective and convenient for water distribution. In this system we have mainly used microcontroller along with the Electric Pumps and relays. </a:t>
            </a:r>
          </a:p>
          <a:p>
            <a:pPr algn="just">
              <a:buFont typeface="Arial" panose="020B0604020202020204" pitchFamily="34" charset="0"/>
              <a:buChar char="•"/>
            </a:pPr>
            <a:r>
              <a:rPr lang="en-US" sz="2400" dirty="0">
                <a:solidFill>
                  <a:prstClr val="black"/>
                </a:solidFill>
                <a:latin typeface="Times New Roman" panose="02020603050405020304" pitchFamily="18" charset="0"/>
                <a:cs typeface="Times New Roman" panose="02020603050405020304" pitchFamily="18" charset="0"/>
              </a:rPr>
              <a:t>The microcontroller monitors the overall system. As these components make the system advance by reducing the operating time, avoiding water wastage and eliminating the man power thus the system is completely automatic.</a:t>
            </a:r>
          </a:p>
        </p:txBody>
      </p:sp>
      <p:sp>
        <p:nvSpPr>
          <p:cNvPr id="4" name="Date Placeholder 3"/>
          <p:cNvSpPr>
            <a:spLocks noGrp="1"/>
          </p:cNvSpPr>
          <p:nvPr>
            <p:ph type="dt" sz="half" idx="10"/>
          </p:nvPr>
        </p:nvSpPr>
        <p:spPr/>
        <p:txBody>
          <a:bodyPr/>
          <a:lstStyle/>
          <a:p>
            <a:fld id="{D121BCBC-AF21-480F-8C1A-83C58722766A}" type="datetime1">
              <a:rPr lang="en-IN" smtClean="0"/>
              <a:t>31-10-2023</a:t>
            </a:fld>
            <a:endParaRPr lang="en-IN"/>
          </a:p>
        </p:txBody>
      </p:sp>
      <p:sp>
        <p:nvSpPr>
          <p:cNvPr id="5" name="Slide Number Placeholder 4"/>
          <p:cNvSpPr>
            <a:spLocks noGrp="1"/>
          </p:cNvSpPr>
          <p:nvPr>
            <p:ph type="sldNum" sz="quarter" idx="12"/>
          </p:nvPr>
        </p:nvSpPr>
        <p:spPr/>
        <p:txBody>
          <a:bodyPr/>
          <a:lstStyle/>
          <a:p>
            <a:fld id="{A0183BA4-7B10-4BE3-A0B2-A48721054ED6}" type="slidenum">
              <a:rPr lang="en-IN" smtClean="0"/>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54990" y="1203960"/>
            <a:ext cx="11071225" cy="4973320"/>
          </a:xfrm>
        </p:spPr>
        <p:txBody>
          <a:bodyPr/>
          <a:lstStyle/>
          <a:p>
            <a:pPr algn="just" eaLnBrk="0" fontAlgn="base" hangingPunct="0">
              <a:lnSpc>
                <a:spcPct val="100000"/>
              </a:lnSpc>
              <a:spcBef>
                <a:spcPct val="20000"/>
              </a:spcBef>
              <a:spcAft>
                <a:spcPct val="0"/>
              </a:spcAft>
              <a:buClr>
                <a:srgbClr val="00007D"/>
              </a:buClr>
              <a:buSzPct val="75000"/>
            </a:pPr>
            <a:r>
              <a:rPr lang="en-IN" sz="2400" dirty="0">
                <a:latin typeface="Times New Roman" panose="02020603050405020304" pitchFamily="18" charset="0"/>
                <a:cs typeface="Times New Roman" panose="02020603050405020304" pitchFamily="18" charset="0"/>
              </a:rPr>
              <a:t>  Everybody understands the importance of water in our lives; clean water has already been a matter of human concern for thousands of years. It is a known fact that all major early civilisations regarded an organised water supply as an essential requisite of any sizeable urban settlement. </a:t>
            </a:r>
          </a:p>
          <a:p>
            <a:pPr algn="just" eaLnBrk="0" fontAlgn="base" hangingPunct="0">
              <a:lnSpc>
                <a:spcPct val="100000"/>
              </a:lnSpc>
              <a:spcBef>
                <a:spcPct val="20000"/>
              </a:spcBef>
              <a:spcAft>
                <a:spcPct val="0"/>
              </a:spcAft>
              <a:buClr>
                <a:srgbClr val="00007D"/>
              </a:buClr>
              <a:buSzPct val="75000"/>
            </a:pPr>
            <a:r>
              <a:rPr lang="en-IN" sz="2400" dirty="0">
                <a:latin typeface="Times New Roman" panose="02020603050405020304" pitchFamily="18" charset="0"/>
                <a:cs typeface="Times New Roman" panose="02020603050405020304" pitchFamily="18" charset="0"/>
              </a:rPr>
              <a:t>Water distribution systems consist of a network of smaller pipes with numerous connections that supply water directly to the users. The flow variations in such systems are much wider than in cases of water transport systems. </a:t>
            </a:r>
          </a:p>
          <a:p>
            <a:pPr algn="just" eaLnBrk="0" fontAlgn="base" hangingPunct="0">
              <a:lnSpc>
                <a:spcPct val="100000"/>
              </a:lnSpc>
              <a:spcBef>
                <a:spcPct val="20000"/>
              </a:spcBef>
              <a:spcAft>
                <a:spcPct val="0"/>
              </a:spcAft>
              <a:buClr>
                <a:srgbClr val="00007D"/>
              </a:buClr>
              <a:buSzPct val="75000"/>
            </a:pPr>
            <a:r>
              <a:rPr lang="en-IN" sz="2400" dirty="0">
                <a:latin typeface="Times New Roman" panose="02020603050405020304" pitchFamily="18" charset="0"/>
                <a:cs typeface="Times New Roman" panose="02020603050405020304" pitchFamily="18" charset="0"/>
              </a:rPr>
              <a:t>Automation is about the advanced technology used for proper water distribution by eliminating human  intervention.  It  includes  the  use  of  various  equipment  and  control  system.  The  biggest  benefit  of automation  is  that it  saves  labor, energy,  and  precision. Automation  provides  optimized  solution to  all  the problems of water  distribution system.</a:t>
            </a:r>
          </a:p>
        </p:txBody>
      </p:sp>
      <p:sp>
        <p:nvSpPr>
          <p:cNvPr id="4" name="Date Placeholder 3"/>
          <p:cNvSpPr>
            <a:spLocks noGrp="1"/>
          </p:cNvSpPr>
          <p:nvPr>
            <p:ph type="dt" sz="half" idx="10"/>
          </p:nvPr>
        </p:nvSpPr>
        <p:spPr/>
        <p:txBody>
          <a:bodyPr/>
          <a:lstStyle/>
          <a:p>
            <a:fld id="{D121BCBC-AF21-480F-8C1A-83C58722766A}" type="datetime1">
              <a:rPr lang="en-IN" smtClean="0"/>
              <a:t>31-10-2023</a:t>
            </a:fld>
            <a:endParaRPr lang="en-IN"/>
          </a:p>
        </p:txBody>
      </p:sp>
      <p:sp>
        <p:nvSpPr>
          <p:cNvPr id="5" name="Slide Number Placeholder 4"/>
          <p:cNvSpPr>
            <a:spLocks noGrp="1"/>
          </p:cNvSpPr>
          <p:nvPr>
            <p:ph type="sldNum" sz="quarter" idx="12"/>
          </p:nvPr>
        </p:nvSpPr>
        <p:spPr/>
        <p:txBody>
          <a:bodyPr/>
          <a:lstStyle/>
          <a:p>
            <a:fld id="{A0183BA4-7B10-4BE3-A0B2-A48721054ED6}" type="slidenum">
              <a:rPr lang="en-IN" smtClean="0"/>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LITERATURE SURVEY</a:t>
            </a:r>
          </a:p>
        </p:txBody>
      </p:sp>
      <p:sp>
        <p:nvSpPr>
          <p:cNvPr id="4" name="Date Placeholder 3"/>
          <p:cNvSpPr>
            <a:spLocks noGrp="1"/>
          </p:cNvSpPr>
          <p:nvPr>
            <p:ph type="dt" sz="half" idx="10"/>
          </p:nvPr>
        </p:nvSpPr>
        <p:spPr/>
        <p:txBody>
          <a:bodyPr/>
          <a:lstStyle/>
          <a:p>
            <a:fld id="{D121BCBC-AF21-480F-8C1A-83C58722766A}" type="datetime1">
              <a:rPr lang="en-IN" smtClean="0"/>
              <a:t>31-10-2023</a:t>
            </a:fld>
            <a:endParaRPr lang="en-IN"/>
          </a:p>
        </p:txBody>
      </p:sp>
      <p:sp>
        <p:nvSpPr>
          <p:cNvPr id="5" name="Slide Number Placeholder 4"/>
          <p:cNvSpPr>
            <a:spLocks noGrp="1"/>
          </p:cNvSpPr>
          <p:nvPr>
            <p:ph type="sldNum" sz="quarter" idx="12"/>
          </p:nvPr>
        </p:nvSpPr>
        <p:spPr/>
        <p:txBody>
          <a:bodyPr/>
          <a:lstStyle/>
          <a:p>
            <a:fld id="{A0183BA4-7B10-4BE3-A0B2-A48721054ED6}" type="slidenum">
              <a:rPr lang="en-IN" smtClean="0"/>
              <a:t>5</a:t>
            </a:fld>
            <a:endParaRPr lang="en-IN"/>
          </a:p>
        </p:txBody>
      </p:sp>
      <p:graphicFrame>
        <p:nvGraphicFramePr>
          <p:cNvPr id="7" name="Table 6"/>
          <p:cNvGraphicFramePr/>
          <p:nvPr>
            <p:extLst>
              <p:ext uri="{D42A27DB-BD31-4B8C-83A1-F6EECF244321}">
                <p14:modId xmlns:p14="http://schemas.microsoft.com/office/powerpoint/2010/main" val="3404237243"/>
              </p:ext>
            </p:extLst>
          </p:nvPr>
        </p:nvGraphicFramePr>
        <p:xfrm>
          <a:off x="1399592" y="1076406"/>
          <a:ext cx="9433249" cy="4801879"/>
        </p:xfrm>
        <a:graphic>
          <a:graphicData uri="http://schemas.openxmlformats.org/drawingml/2006/table">
            <a:tbl>
              <a:tblPr firstRow="1" bandRow="1">
                <a:tableStyleId>{5C22544A-7EE6-4342-B048-85BDC9FD1C3A}</a:tableStyleId>
              </a:tblPr>
              <a:tblGrid>
                <a:gridCol w="1077336">
                  <a:extLst>
                    <a:ext uri="{9D8B030D-6E8A-4147-A177-3AD203B41FA5}">
                      <a16:colId xmlns:a16="http://schemas.microsoft.com/office/drawing/2014/main" val="20000"/>
                    </a:ext>
                  </a:extLst>
                </a:gridCol>
                <a:gridCol w="2759028">
                  <a:extLst>
                    <a:ext uri="{9D8B030D-6E8A-4147-A177-3AD203B41FA5}">
                      <a16:colId xmlns:a16="http://schemas.microsoft.com/office/drawing/2014/main" val="20001"/>
                    </a:ext>
                  </a:extLst>
                </a:gridCol>
                <a:gridCol w="3923338">
                  <a:extLst>
                    <a:ext uri="{9D8B030D-6E8A-4147-A177-3AD203B41FA5}">
                      <a16:colId xmlns:a16="http://schemas.microsoft.com/office/drawing/2014/main" val="20002"/>
                    </a:ext>
                  </a:extLst>
                </a:gridCol>
                <a:gridCol w="1673547">
                  <a:extLst>
                    <a:ext uri="{9D8B030D-6E8A-4147-A177-3AD203B41FA5}">
                      <a16:colId xmlns:a16="http://schemas.microsoft.com/office/drawing/2014/main" val="20003"/>
                    </a:ext>
                  </a:extLst>
                </a:gridCol>
              </a:tblGrid>
              <a:tr h="938758">
                <a:tc>
                  <a:txBody>
                    <a:bodyPr/>
                    <a:lstStyle/>
                    <a:p>
                      <a:pPr algn="ctr"/>
                      <a:r>
                        <a:rPr lang="en-IN" dirty="0">
                          <a:solidFill>
                            <a:schemeClr val="tx1"/>
                          </a:solidFill>
                          <a:latin typeface="Times New Roman" panose="02020603050405020304" pitchFamily="18" charset="0"/>
                          <a:cs typeface="Times New Roman" panose="02020603050405020304" pitchFamily="18" charset="0"/>
                        </a:rPr>
                        <a:t>S.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b="1" dirty="0">
                          <a:solidFill>
                            <a:schemeClr val="tx1"/>
                          </a:solidFill>
                          <a:latin typeface="Times New Roman" panose="02020603050405020304" pitchFamily="18" charset="0"/>
                          <a:ea typeface="Calibri" panose="020F0502020204030204"/>
                          <a:cs typeface="Times New Roman" panose="02020603050405020304" pitchFamily="18" charset="0"/>
                        </a:rPr>
                        <a:t>Author</a:t>
                      </a:r>
                      <a:endParaRPr lang="en-US" sz="1800" dirty="0">
                        <a:solidFill>
                          <a:schemeClr val="tx1"/>
                        </a:solidFill>
                        <a:latin typeface="Times New Roman" panose="02020603050405020304" pitchFamily="18" charset="0"/>
                        <a:ea typeface="Calibri" panose="020F0502020204030204"/>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b="1" dirty="0">
                          <a:solidFill>
                            <a:schemeClr val="tx1"/>
                          </a:solidFill>
                          <a:latin typeface="Times New Roman" panose="02020603050405020304" pitchFamily="18" charset="0"/>
                          <a:ea typeface="Calibri" panose="020F0502020204030204"/>
                          <a:cs typeface="Times New Roman" panose="02020603050405020304" pitchFamily="18" charset="0"/>
                        </a:rPr>
                        <a:t>Title</a:t>
                      </a:r>
                      <a:endParaRPr lang="en-US" sz="1800" dirty="0">
                        <a:solidFill>
                          <a:schemeClr val="tx1"/>
                        </a:solidFill>
                        <a:latin typeface="Times New Roman" panose="02020603050405020304" pitchFamily="18" charset="0"/>
                        <a:ea typeface="Calibri" panose="020F0502020204030204"/>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b="1" dirty="0">
                          <a:solidFill>
                            <a:schemeClr val="tx1"/>
                          </a:solidFill>
                          <a:latin typeface="Times New Roman" panose="02020603050405020304" pitchFamily="18" charset="0"/>
                          <a:ea typeface="Calibri" panose="020F0502020204030204"/>
                          <a:cs typeface="Times New Roman" panose="02020603050405020304" pitchFamily="18" charset="0"/>
                        </a:rPr>
                        <a:t>Year</a:t>
                      </a:r>
                      <a:endParaRPr lang="en-US" sz="1800" dirty="0">
                        <a:solidFill>
                          <a:schemeClr val="tx1"/>
                        </a:solidFill>
                        <a:latin typeface="Times New Roman" panose="02020603050405020304" pitchFamily="18" charset="0"/>
                        <a:ea typeface="Calibri" panose="020F0502020204030204"/>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899484">
                <a:tc>
                  <a:txBody>
                    <a:bodyPr/>
                    <a:lstStyle/>
                    <a:p>
                      <a:pPr algn="ctr"/>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IN" sz="1800" dirty="0">
                          <a:latin typeface="Times New Roman" panose="02020603050405020304" pitchFamily="18" charset="0"/>
                          <a:cs typeface="Times New Roman" panose="02020603050405020304" pitchFamily="18" charset="0"/>
                        </a:rPr>
                        <a:t>T. </a:t>
                      </a:r>
                      <a:r>
                        <a:rPr lang="en-IN" sz="1800" dirty="0" err="1">
                          <a:latin typeface="Times New Roman" panose="02020603050405020304" pitchFamily="18" charset="0"/>
                          <a:cs typeface="Times New Roman" panose="02020603050405020304" pitchFamily="18" charset="0"/>
                        </a:rPr>
                        <a:t>Baranidharan</a:t>
                      </a:r>
                      <a:endParaRPr lang="en-US" sz="1800" dirty="0">
                        <a:latin typeface="Times New Roman" panose="02020603050405020304" pitchFamily="18" charset="0"/>
                        <a:ea typeface="Calibri" panose="020F0502020204030204"/>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IN" sz="1800" dirty="0">
                          <a:latin typeface="Times New Roman" panose="02020603050405020304" pitchFamily="18" charset="0"/>
                          <a:cs typeface="Times New Roman" panose="02020603050405020304" pitchFamily="18" charset="0"/>
                        </a:rPr>
                        <a:t>Automated Water Distribution System Using PLC And SCADA</a:t>
                      </a:r>
                      <a:endParaRPr lang="en-US" sz="1800" dirty="0">
                        <a:latin typeface="Times New Roman" panose="02020603050405020304" pitchFamily="18" charset="0"/>
                        <a:ea typeface="Calibri" panose="020F0502020204030204"/>
                        <a:cs typeface="Times New Roman" panose="02020603050405020304" pitchFamily="18" charset="0"/>
                        <a:sym typeface="+mn-ea"/>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rPr>
                        <a:t>2020</a:t>
                      </a: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735192">
                <a:tc>
                  <a:txBody>
                    <a:bodyPr/>
                    <a:lstStyle/>
                    <a:p>
                      <a:pPr algn="ctr"/>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sym typeface="+mn-ea"/>
                        </a:rPr>
                        <a:t> </a:t>
                      </a:r>
                      <a:r>
                        <a:rPr lang="en-IN" sz="1800" dirty="0">
                          <a:latin typeface="Times New Roman" panose="02020603050405020304" pitchFamily="18" charset="0"/>
                          <a:cs typeface="Times New Roman" panose="02020603050405020304" pitchFamily="18" charset="0"/>
                        </a:rPr>
                        <a:t>Sujeet Rote</a:t>
                      </a:r>
                      <a:endParaRPr lang="en-US" sz="1800" dirty="0">
                        <a:latin typeface="Times New Roman" panose="02020603050405020304" pitchFamily="18" charset="0"/>
                        <a:ea typeface="Calibri" panose="020F0502020204030204"/>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sym typeface="+mn-ea"/>
                        </a:rPr>
                        <a:t> </a:t>
                      </a:r>
                      <a:r>
                        <a:rPr lang="en-IN" sz="1800" dirty="0">
                          <a:latin typeface="Times New Roman" panose="02020603050405020304" pitchFamily="18" charset="0"/>
                          <a:cs typeface="Times New Roman" panose="02020603050405020304" pitchFamily="18" charset="0"/>
                        </a:rPr>
                        <a:t>Automatic Water Distribution System using PLC</a:t>
                      </a:r>
                      <a:endParaRPr lang="en-US" sz="1800" dirty="0">
                        <a:latin typeface="Times New Roman" panose="02020603050405020304" pitchFamily="18" charset="0"/>
                        <a:ea typeface="Calibri" panose="020F0502020204030204"/>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rPr>
                        <a:t>2019</a:t>
                      </a: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899484">
                <a:tc>
                  <a:txBody>
                    <a:bodyPr/>
                    <a:lstStyle/>
                    <a:p>
                      <a:pPr algn="ctr"/>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IN" sz="1800" dirty="0">
                          <a:latin typeface="Times New Roman" panose="02020603050405020304" pitchFamily="18" charset="0"/>
                          <a:cs typeface="Times New Roman" panose="02020603050405020304" pitchFamily="18" charset="0"/>
                        </a:rPr>
                        <a:t>Mr. </a:t>
                      </a:r>
                      <a:r>
                        <a:rPr lang="en-IN" sz="1800" dirty="0" err="1">
                          <a:latin typeface="Times New Roman" panose="02020603050405020304" pitchFamily="18" charset="0"/>
                          <a:cs typeface="Times New Roman" panose="02020603050405020304" pitchFamily="18" charset="0"/>
                        </a:rPr>
                        <a:t>Prashantpalkar</a:t>
                      </a:r>
                      <a:endParaRPr lang="en-US" sz="1800" dirty="0">
                        <a:latin typeface="Times New Roman" panose="02020603050405020304" pitchFamily="18" charset="0"/>
                        <a:ea typeface="Calibri" panose="020F0502020204030204"/>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IN" sz="1800" dirty="0">
                          <a:latin typeface="Times New Roman" panose="02020603050405020304" pitchFamily="18" charset="0"/>
                          <a:cs typeface="Times New Roman" panose="02020603050405020304" pitchFamily="18" charset="0"/>
                        </a:rPr>
                        <a:t>Automation in Drinking Water Supply Distributed System and Testing Of Water</a:t>
                      </a:r>
                      <a:endParaRPr lang="en-US" sz="1800" dirty="0">
                        <a:latin typeface="Times New Roman" panose="02020603050405020304" pitchFamily="18" charset="0"/>
                        <a:ea typeface="Calibri" panose="020F0502020204030204"/>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rPr>
                        <a:t>2018</a:t>
                      </a: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328961">
                <a:tc>
                  <a:txBody>
                    <a:bodyPr/>
                    <a:lstStyle/>
                    <a:p>
                      <a:pPr algn="ctr"/>
                      <a:r>
                        <a:rPr lang="en-IN" dirty="0">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US" sz="1800" dirty="0">
                          <a:latin typeface="Times New Roman" panose="02020603050405020304" pitchFamily="18" charset="0"/>
                          <a:ea typeface="Calibri" panose="020F0502020204030204"/>
                          <a:cs typeface="Times New Roman" panose="02020603050405020304" pitchFamily="18" charset="0"/>
                        </a:rPr>
                        <a:t>Ling Fu</a:t>
                      </a:r>
                    </a:p>
                    <a:p>
                      <a:pPr algn="ctr">
                        <a:lnSpc>
                          <a:spcPct val="115000"/>
                        </a:lnSpc>
                        <a:spcAft>
                          <a:spcPts val="0"/>
                        </a:spcAft>
                      </a:pPr>
                      <a:endParaRPr lang="en-US" sz="1800" dirty="0">
                        <a:latin typeface="Times New Roman" panose="02020603050405020304" pitchFamily="18" charset="0"/>
                        <a:ea typeface="Calibri" panose="020F0502020204030204"/>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US" sz="1800" dirty="0">
                          <a:latin typeface="Times New Roman" panose="02020603050405020304" pitchFamily="18" charset="0"/>
                          <a:ea typeface="Calibri" panose="020F0502020204030204"/>
                          <a:cs typeface="Times New Roman" panose="02020603050405020304" pitchFamily="18" charset="0"/>
                        </a:rPr>
                        <a:t>Operation and Management of Drinking Water Supply Project in Rural Regions of Loess Plateau</a:t>
                      </a:r>
                    </a:p>
                    <a:p>
                      <a:pPr algn="ctr">
                        <a:lnSpc>
                          <a:spcPct val="115000"/>
                        </a:lnSpc>
                        <a:spcAft>
                          <a:spcPts val="0"/>
                        </a:spcAft>
                      </a:pPr>
                      <a:endParaRPr lang="en-US" sz="1800" dirty="0">
                        <a:latin typeface="Times New Roman" panose="02020603050405020304" pitchFamily="18" charset="0"/>
                        <a:ea typeface="Calibri" panose="020F0502020204030204"/>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dirty="0">
                          <a:latin typeface="Times New Roman" panose="02020603050405020304" pitchFamily="18" charset="0"/>
                          <a:ea typeface="Calibri" panose="020F0502020204030204"/>
                          <a:cs typeface="Times New Roman" panose="02020603050405020304" pitchFamily="18" charset="0"/>
                        </a:rPr>
                        <a:t>2017</a:t>
                      </a: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600" b="1" dirty="0">
                <a:latin typeface="Times New Roman" panose="02020603050405020304" pitchFamily="18" charset="0"/>
                <a:cs typeface="Times New Roman" panose="02020603050405020304" pitchFamily="18" charset="0"/>
              </a:rPr>
              <a:t>EXISTING SYSTEM</a:t>
            </a:r>
          </a:p>
        </p:txBody>
      </p:sp>
      <p:sp>
        <p:nvSpPr>
          <p:cNvPr id="3" name="Content Placeholder 2"/>
          <p:cNvSpPr>
            <a:spLocks noGrp="1"/>
          </p:cNvSpPr>
          <p:nvPr>
            <p:ph sz="half" idx="1"/>
          </p:nvPr>
        </p:nvSpPr>
        <p:spPr>
          <a:xfrm>
            <a:off x="945515" y="1825625"/>
            <a:ext cx="7595870" cy="4320540"/>
          </a:xfrm>
        </p:spPr>
        <p:txBody>
          <a:bodyPr>
            <a:normAutofit/>
          </a:bodyPr>
          <a:lstStyle/>
          <a:p>
            <a:pPr marL="0" indent="0" algn="just" eaLnBrk="0" fontAlgn="base" hangingPunct="0">
              <a:lnSpc>
                <a:spcPct val="100000"/>
              </a:lnSpc>
              <a:spcBef>
                <a:spcPct val="20000"/>
              </a:spcBef>
              <a:spcAft>
                <a:spcPct val="0"/>
              </a:spcAft>
              <a:buClr>
                <a:srgbClr val="00007D"/>
              </a:buClr>
              <a:buSzPct val="75000"/>
              <a:buNone/>
            </a:pPr>
            <a:endParaRPr lang="en-US" sz="2400" dirty="0">
              <a:latin typeface="Times New Roman" panose="02020603050405020304" pitchFamily="18" charset="0"/>
              <a:cs typeface="Times New Roman" panose="02020603050405020304" pitchFamily="18" charset="0"/>
            </a:endParaRPr>
          </a:p>
          <a:p>
            <a:pPr algn="just" eaLnBrk="0" fontAlgn="base" hangingPunct="0">
              <a:lnSpc>
                <a:spcPct val="100000"/>
              </a:lnSpc>
              <a:spcBef>
                <a:spcPct val="20000"/>
              </a:spcBef>
              <a:spcAft>
                <a:spcPct val="0"/>
              </a:spcAft>
              <a:buClr>
                <a:srgbClr val="00007D"/>
              </a:buClr>
              <a:buSzPct val="75000"/>
            </a:pPr>
            <a:endParaRPr lang="en-IN" altLang="en-US" sz="2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0183BA4-7B10-4BE3-A0B2-A48721054ED6}" type="slidenum">
              <a:rPr lang="en-IN" smtClean="0"/>
              <a:t>6</a:t>
            </a:fld>
            <a:endParaRPr lang="en-IN"/>
          </a:p>
        </p:txBody>
      </p:sp>
      <p:sp>
        <p:nvSpPr>
          <p:cNvPr id="6" name="Content Placeholder 5"/>
          <p:cNvSpPr>
            <a:spLocks noGrp="1"/>
          </p:cNvSpPr>
          <p:nvPr>
            <p:ph sz="half" idx="2"/>
          </p:nvPr>
        </p:nvSpPr>
        <p:spPr>
          <a:xfrm>
            <a:off x="528955" y="1505585"/>
            <a:ext cx="10895965" cy="4641215"/>
          </a:xfrm>
        </p:spPr>
        <p:txBody>
          <a:bodyPr/>
          <a:lstStyle/>
          <a:p>
            <a:pPr>
              <a:lnSpc>
                <a:spcPct val="150000"/>
              </a:lnSpc>
            </a:pPr>
            <a:r>
              <a:rPr lang="en-US" sz="2400">
                <a:latin typeface="Times New Roman" panose="02020603050405020304" pitchFamily="18" charset="0"/>
                <a:cs typeface="Times New Roman" panose="02020603050405020304" pitchFamily="18" charset="0"/>
              </a:rPr>
              <a:t>The existing system is not capable of supplying water to all the areas simultaneously. Therefore, it takes more time in supplying water to every single area. </a:t>
            </a:r>
          </a:p>
          <a:p>
            <a:pPr marL="0" indent="0" algn="just">
              <a:lnSpc>
                <a:spcPct val="150000"/>
              </a:lnSpc>
              <a:buNone/>
            </a:pPr>
            <a:r>
              <a:rPr lang="en-US" sz="2400">
                <a:latin typeface="Times New Roman" panose="02020603050405020304" pitchFamily="18" charset="0"/>
                <a:cs typeface="Times New Roman" panose="02020603050405020304" pitchFamily="18" charset="0"/>
              </a:rPr>
              <a:t>•  Another major problem in water supply system is leakage or wastage of water and </a:t>
            </a:r>
            <a:r>
              <a:rPr lang="en-IN" altLang="en-US"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when the process is controlled manually, it requires more time and man power. </a:t>
            </a:r>
          </a:p>
          <a:p>
            <a:pPr>
              <a:lnSpc>
                <a:spcPct val="150000"/>
              </a:lnSpc>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Along with these problems, water theft is also one of the main issues. Sometimes people draw the water directly from distribution pipes using suction pumps which again lead to drastic reduction in the pressure of the water flowing in the pipelines.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600" b="1" dirty="0">
                <a:latin typeface="Times New Roman" panose="02020603050405020304" pitchFamily="18" charset="0"/>
                <a:cs typeface="Times New Roman" panose="02020603050405020304" pitchFamily="18" charset="0"/>
              </a:rPr>
              <a:t>PROPOSED SYSTEM</a:t>
            </a:r>
          </a:p>
        </p:txBody>
      </p:sp>
      <p:sp>
        <p:nvSpPr>
          <p:cNvPr id="3" name="Content Placeholder 2"/>
          <p:cNvSpPr>
            <a:spLocks noGrp="1"/>
          </p:cNvSpPr>
          <p:nvPr>
            <p:ph sz="half" idx="1"/>
          </p:nvPr>
        </p:nvSpPr>
        <p:spPr>
          <a:xfrm>
            <a:off x="838200" y="1414145"/>
            <a:ext cx="10678795" cy="4763135"/>
          </a:xfrm>
        </p:spPr>
        <p:txBody>
          <a:bodyPr>
            <a:normAutofit/>
          </a:bodyPr>
          <a:lstStyle/>
          <a:p>
            <a:pPr>
              <a:lnSpc>
                <a:spcPct val="150000"/>
              </a:lnSpc>
            </a:pPr>
            <a:r>
              <a:rPr lang="en-IN" sz="2400" dirty="0">
                <a:latin typeface="Times New Roman" panose="02020603050405020304" pitchFamily="18" charset="0"/>
                <a:cs typeface="Times New Roman" panose="02020603050405020304" pitchFamily="18" charset="0"/>
              </a:rPr>
              <a:t>.The  proposed  automated  urban  water  supply  system  consists  of  ARDUINO  based  Microcontroller ATMEGA328P.  Microcontroller  is the  heart  of  automated  water  supply system.  It  helps  in controlling  the solenoid  valve.</a:t>
            </a:r>
          </a:p>
          <a:p>
            <a:pPr>
              <a:lnSpc>
                <a:spcPct val="150000"/>
              </a:lnSpc>
            </a:pPr>
            <a:r>
              <a:rPr lang="en-IN" sz="2400" dirty="0">
                <a:latin typeface="Times New Roman" panose="02020603050405020304" pitchFamily="18" charset="0"/>
                <a:cs typeface="Times New Roman" panose="02020603050405020304" pitchFamily="18" charset="0"/>
              </a:rPr>
              <a:t>The main solenoid valve operates for a pre-set time and water is distributed.</a:t>
            </a:r>
          </a:p>
          <a:p>
            <a:pPr>
              <a:lnSpc>
                <a:spcPct val="150000"/>
              </a:lnSpc>
            </a:pPr>
            <a:r>
              <a:rPr lang="en-IN" sz="2400" dirty="0">
                <a:latin typeface="Times New Roman" panose="02020603050405020304" pitchFamily="18" charset="0"/>
                <a:cs typeface="Times New Roman" panose="02020603050405020304" pitchFamily="18" charset="0"/>
              </a:rPr>
              <a:t> For  example: if  the microcontroller is  programmed for  a pre-set time of 6pm-8pm on daily basis then everyday exactly at 6pm the main solenoid valve is opened and the water is distributed up to 8pm. Similarly each house is provided with a solenoid valve which operates based on the water level in the storage tank. </a:t>
            </a:r>
          </a:p>
          <a:p>
            <a:pPr>
              <a:lnSpc>
                <a:spcPct val="150000"/>
              </a:lnSpc>
            </a:pPr>
            <a:endParaRPr lang="en-IN" sz="2400" dirty="0">
              <a:latin typeface="Times New Roman" panose="02020603050405020304" pitchFamily="18" charset="0"/>
              <a:cs typeface="Times New Roman" panose="02020603050405020304" pitchFamily="18" charset="0"/>
            </a:endParaRPr>
          </a:p>
          <a:p>
            <a:pPr>
              <a:lnSpc>
                <a:spcPct val="150000"/>
              </a:lnSpc>
            </a:pPr>
            <a:endParaRPr lang="en-IN" sz="2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0183BA4-7B10-4BE3-A0B2-A48721054ED6}" type="slidenum">
              <a:rPr lang="en-IN" smtClean="0"/>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D77F5-1298-1B95-01F5-6CE6E197666B}"/>
              </a:ext>
            </a:extLst>
          </p:cNvPr>
          <p:cNvSpPr>
            <a:spLocks noGrp="1"/>
          </p:cNvSpPr>
          <p:nvPr>
            <p:ph type="title"/>
          </p:nvPr>
        </p:nvSpPr>
        <p:spPr>
          <a:xfrm>
            <a:off x="689610" y="297499"/>
            <a:ext cx="10515600" cy="551406"/>
          </a:xfrm>
        </p:spPr>
        <p:txBody>
          <a:bodyPr>
            <a:noAutofit/>
          </a:bodyPr>
          <a:lstStyle/>
          <a:p>
            <a:pPr algn="ctr"/>
            <a:r>
              <a:rPr lang="en-IN" sz="3600" b="1" dirty="0">
                <a:latin typeface="Times New Roman" panose="02020603050405020304" pitchFamily="18" charset="0"/>
                <a:cs typeface="Times New Roman" panose="02020603050405020304" pitchFamily="18" charset="0"/>
              </a:rPr>
              <a:t>Block Diagram</a:t>
            </a:r>
          </a:p>
        </p:txBody>
      </p:sp>
      <p:sp>
        <p:nvSpPr>
          <p:cNvPr id="3" name="Text Placeholder 2">
            <a:extLst>
              <a:ext uri="{FF2B5EF4-FFF2-40B4-BE49-F238E27FC236}">
                <a16:creationId xmlns:a16="http://schemas.microsoft.com/office/drawing/2014/main" id="{73F8E365-D34C-9C83-2151-30862BFCB0D5}"/>
              </a:ext>
            </a:extLst>
          </p:cNvPr>
          <p:cNvSpPr>
            <a:spLocks noGrp="1"/>
          </p:cNvSpPr>
          <p:nvPr>
            <p:ph type="body" idx="1"/>
          </p:nvPr>
        </p:nvSpPr>
        <p:spPr>
          <a:xfrm>
            <a:off x="831850" y="1778000"/>
            <a:ext cx="10945232" cy="4954171"/>
          </a:xfrm>
        </p:spPr>
        <p:txBody>
          <a:bodyPr/>
          <a:lstStyle/>
          <a:p>
            <a:endParaRPr lang="en-IN" sz="1050" kern="100" dirty="0">
              <a:solidFill>
                <a:srgbClr val="000000"/>
              </a:solidFill>
              <a:effectLst/>
              <a:latin typeface="Calibri" panose="020F0502020204030204" pitchFamily="34" charset="0"/>
              <a:ea typeface="Calibri" panose="020F0502020204030204" pitchFamily="34" charset="0"/>
            </a:endParaRPr>
          </a:p>
          <a:p>
            <a:endParaRPr lang="en-IN" dirty="0"/>
          </a:p>
        </p:txBody>
      </p:sp>
      <p:grpSp>
        <p:nvGrpSpPr>
          <p:cNvPr id="6" name="Group 5">
            <a:extLst>
              <a:ext uri="{FF2B5EF4-FFF2-40B4-BE49-F238E27FC236}">
                <a16:creationId xmlns:a16="http://schemas.microsoft.com/office/drawing/2014/main" id="{2A9F9290-6CD2-7FDC-7EE8-32B7057CB26E}"/>
              </a:ext>
            </a:extLst>
          </p:cNvPr>
          <p:cNvGrpSpPr/>
          <p:nvPr/>
        </p:nvGrpSpPr>
        <p:grpSpPr>
          <a:xfrm>
            <a:off x="2772972" y="1068863"/>
            <a:ext cx="6646056" cy="4720273"/>
            <a:chOff x="0" y="0"/>
            <a:chExt cx="6646186" cy="4919472"/>
          </a:xfrm>
        </p:grpSpPr>
        <p:sp>
          <p:nvSpPr>
            <p:cNvPr id="7" name="Shape 654">
              <a:extLst>
                <a:ext uri="{FF2B5EF4-FFF2-40B4-BE49-F238E27FC236}">
                  <a16:creationId xmlns:a16="http://schemas.microsoft.com/office/drawing/2014/main" id="{1EA14E79-7FFE-61C3-984B-05F9A60C5A26}"/>
                </a:ext>
              </a:extLst>
            </p:cNvPr>
            <p:cNvSpPr/>
            <p:nvPr/>
          </p:nvSpPr>
          <p:spPr>
            <a:xfrm>
              <a:off x="2465832" y="1184148"/>
              <a:ext cx="1828800" cy="3735324"/>
            </a:xfrm>
            <a:custGeom>
              <a:avLst/>
              <a:gdLst/>
              <a:ahLst/>
              <a:cxnLst/>
              <a:rect l="0" t="0" r="0" b="0"/>
              <a:pathLst>
                <a:path w="1828800" h="3735324">
                  <a:moveTo>
                    <a:pt x="0" y="304800"/>
                  </a:moveTo>
                  <a:cubicBezTo>
                    <a:pt x="0" y="136525"/>
                    <a:pt x="136525" y="0"/>
                    <a:pt x="304800" y="0"/>
                  </a:cubicBezTo>
                  <a:lnTo>
                    <a:pt x="1524000" y="0"/>
                  </a:lnTo>
                  <a:cubicBezTo>
                    <a:pt x="1692275" y="0"/>
                    <a:pt x="1828800" y="136525"/>
                    <a:pt x="1828800" y="304800"/>
                  </a:cubicBezTo>
                  <a:lnTo>
                    <a:pt x="1828800" y="3430524"/>
                  </a:lnTo>
                  <a:cubicBezTo>
                    <a:pt x="1828800" y="3598863"/>
                    <a:pt x="1692275" y="3735324"/>
                    <a:pt x="1524000" y="3735324"/>
                  </a:cubicBezTo>
                  <a:lnTo>
                    <a:pt x="304800" y="3735324"/>
                  </a:lnTo>
                  <a:cubicBezTo>
                    <a:pt x="136525" y="3735324"/>
                    <a:pt x="0" y="3598863"/>
                    <a:pt x="0" y="3430524"/>
                  </a:cubicBezTo>
                  <a:close/>
                </a:path>
              </a:pathLst>
            </a:custGeom>
            <a:ln w="12700" cap="flat">
              <a:miter lim="127000"/>
            </a:ln>
          </p:spPr>
          <p:style>
            <a:lnRef idx="1">
              <a:srgbClr val="70AD47"/>
            </a:lnRef>
            <a:fillRef idx="0">
              <a:srgbClr val="000000">
                <a:alpha val="0"/>
              </a:srgbClr>
            </a:fillRef>
            <a:effectRef idx="0">
              <a:scrgbClr r="0" g="0" b="0"/>
            </a:effectRef>
            <a:fontRef idx="none"/>
          </p:style>
          <p:txBody>
            <a:bodyPr/>
            <a:lstStyle/>
            <a:p>
              <a:endParaRPr lang="en-IN"/>
            </a:p>
          </p:txBody>
        </p:sp>
        <p:sp>
          <p:nvSpPr>
            <p:cNvPr id="8" name="Shape 655">
              <a:extLst>
                <a:ext uri="{FF2B5EF4-FFF2-40B4-BE49-F238E27FC236}">
                  <a16:creationId xmlns:a16="http://schemas.microsoft.com/office/drawing/2014/main" id="{3E9756DB-F658-BC30-78C6-08F6A41716AE}"/>
                </a:ext>
              </a:extLst>
            </p:cNvPr>
            <p:cNvSpPr/>
            <p:nvPr/>
          </p:nvSpPr>
          <p:spPr>
            <a:xfrm>
              <a:off x="4311396" y="1712976"/>
              <a:ext cx="740791" cy="76200"/>
            </a:xfrm>
            <a:custGeom>
              <a:avLst/>
              <a:gdLst/>
              <a:ahLst/>
              <a:cxnLst/>
              <a:rect l="0" t="0" r="0" b="0"/>
              <a:pathLst>
                <a:path w="740791" h="76200">
                  <a:moveTo>
                    <a:pt x="664591" y="0"/>
                  </a:moveTo>
                  <a:lnTo>
                    <a:pt x="740791" y="38100"/>
                  </a:lnTo>
                  <a:lnTo>
                    <a:pt x="664591" y="76200"/>
                  </a:lnTo>
                  <a:lnTo>
                    <a:pt x="664591" y="44450"/>
                  </a:lnTo>
                  <a:lnTo>
                    <a:pt x="0" y="44450"/>
                  </a:lnTo>
                  <a:lnTo>
                    <a:pt x="0" y="31750"/>
                  </a:lnTo>
                  <a:lnTo>
                    <a:pt x="664591" y="31750"/>
                  </a:lnTo>
                  <a:lnTo>
                    <a:pt x="664591"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IN"/>
            </a:p>
          </p:txBody>
        </p:sp>
        <p:sp>
          <p:nvSpPr>
            <p:cNvPr id="9" name="Shape 656">
              <a:extLst>
                <a:ext uri="{FF2B5EF4-FFF2-40B4-BE49-F238E27FC236}">
                  <a16:creationId xmlns:a16="http://schemas.microsoft.com/office/drawing/2014/main" id="{B442CAD3-5011-52CD-E65A-A455EAEEADB3}"/>
                </a:ext>
              </a:extLst>
            </p:cNvPr>
            <p:cNvSpPr/>
            <p:nvPr/>
          </p:nvSpPr>
          <p:spPr>
            <a:xfrm>
              <a:off x="4311396" y="2578608"/>
              <a:ext cx="717677" cy="76200"/>
            </a:xfrm>
            <a:custGeom>
              <a:avLst/>
              <a:gdLst/>
              <a:ahLst/>
              <a:cxnLst/>
              <a:rect l="0" t="0" r="0" b="0"/>
              <a:pathLst>
                <a:path w="717677" h="76200">
                  <a:moveTo>
                    <a:pt x="641477" y="0"/>
                  </a:moveTo>
                  <a:lnTo>
                    <a:pt x="717677" y="38100"/>
                  </a:lnTo>
                  <a:lnTo>
                    <a:pt x="641477" y="76200"/>
                  </a:lnTo>
                  <a:lnTo>
                    <a:pt x="641477" y="44450"/>
                  </a:lnTo>
                  <a:lnTo>
                    <a:pt x="0" y="44450"/>
                  </a:lnTo>
                  <a:lnTo>
                    <a:pt x="0" y="31750"/>
                  </a:lnTo>
                  <a:lnTo>
                    <a:pt x="641477" y="31750"/>
                  </a:lnTo>
                  <a:lnTo>
                    <a:pt x="641477"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IN"/>
            </a:p>
          </p:txBody>
        </p:sp>
        <p:sp>
          <p:nvSpPr>
            <p:cNvPr id="10" name="Shape 657">
              <a:extLst>
                <a:ext uri="{FF2B5EF4-FFF2-40B4-BE49-F238E27FC236}">
                  <a16:creationId xmlns:a16="http://schemas.microsoft.com/office/drawing/2014/main" id="{15B3A147-C634-83E9-E9E1-80695E6E3B9A}"/>
                </a:ext>
              </a:extLst>
            </p:cNvPr>
            <p:cNvSpPr/>
            <p:nvPr/>
          </p:nvSpPr>
          <p:spPr>
            <a:xfrm>
              <a:off x="4282440" y="3454908"/>
              <a:ext cx="717678" cy="76200"/>
            </a:xfrm>
            <a:custGeom>
              <a:avLst/>
              <a:gdLst/>
              <a:ahLst/>
              <a:cxnLst/>
              <a:rect l="0" t="0" r="0" b="0"/>
              <a:pathLst>
                <a:path w="717678" h="76200">
                  <a:moveTo>
                    <a:pt x="641478" y="0"/>
                  </a:moveTo>
                  <a:lnTo>
                    <a:pt x="717678" y="38100"/>
                  </a:lnTo>
                  <a:lnTo>
                    <a:pt x="641478" y="76200"/>
                  </a:lnTo>
                  <a:lnTo>
                    <a:pt x="641478" y="44450"/>
                  </a:lnTo>
                  <a:lnTo>
                    <a:pt x="0" y="44450"/>
                  </a:lnTo>
                  <a:lnTo>
                    <a:pt x="0" y="31750"/>
                  </a:lnTo>
                  <a:lnTo>
                    <a:pt x="641478" y="31750"/>
                  </a:lnTo>
                  <a:lnTo>
                    <a:pt x="641478"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IN"/>
            </a:p>
          </p:txBody>
        </p:sp>
        <p:sp>
          <p:nvSpPr>
            <p:cNvPr id="11" name="Shape 658">
              <a:extLst>
                <a:ext uri="{FF2B5EF4-FFF2-40B4-BE49-F238E27FC236}">
                  <a16:creationId xmlns:a16="http://schemas.microsoft.com/office/drawing/2014/main" id="{6B6B58C2-DFF6-FAE2-F96B-8B2FA6B5EE39}"/>
                </a:ext>
              </a:extLst>
            </p:cNvPr>
            <p:cNvSpPr/>
            <p:nvPr/>
          </p:nvSpPr>
          <p:spPr>
            <a:xfrm>
              <a:off x="4287012" y="4360164"/>
              <a:ext cx="717677" cy="76200"/>
            </a:xfrm>
            <a:custGeom>
              <a:avLst/>
              <a:gdLst/>
              <a:ahLst/>
              <a:cxnLst/>
              <a:rect l="0" t="0" r="0" b="0"/>
              <a:pathLst>
                <a:path w="717677" h="76200">
                  <a:moveTo>
                    <a:pt x="641477" y="0"/>
                  </a:moveTo>
                  <a:lnTo>
                    <a:pt x="717677" y="38100"/>
                  </a:lnTo>
                  <a:lnTo>
                    <a:pt x="641477" y="76200"/>
                  </a:lnTo>
                  <a:lnTo>
                    <a:pt x="641477" y="44450"/>
                  </a:lnTo>
                  <a:lnTo>
                    <a:pt x="0" y="44450"/>
                  </a:lnTo>
                  <a:lnTo>
                    <a:pt x="0" y="31750"/>
                  </a:lnTo>
                  <a:lnTo>
                    <a:pt x="641477" y="31750"/>
                  </a:lnTo>
                  <a:lnTo>
                    <a:pt x="641477"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IN"/>
            </a:p>
          </p:txBody>
        </p:sp>
        <p:sp>
          <p:nvSpPr>
            <p:cNvPr id="12" name="Shape 659">
              <a:extLst>
                <a:ext uri="{FF2B5EF4-FFF2-40B4-BE49-F238E27FC236}">
                  <a16:creationId xmlns:a16="http://schemas.microsoft.com/office/drawing/2014/main" id="{9806705E-20CF-5D32-B860-09052D482F4F}"/>
                </a:ext>
              </a:extLst>
            </p:cNvPr>
            <p:cNvSpPr/>
            <p:nvPr/>
          </p:nvSpPr>
          <p:spPr>
            <a:xfrm>
              <a:off x="1748028" y="1821180"/>
              <a:ext cx="717677" cy="76200"/>
            </a:xfrm>
            <a:custGeom>
              <a:avLst/>
              <a:gdLst/>
              <a:ahLst/>
              <a:cxnLst/>
              <a:rect l="0" t="0" r="0" b="0"/>
              <a:pathLst>
                <a:path w="717677" h="76200">
                  <a:moveTo>
                    <a:pt x="641477" y="0"/>
                  </a:moveTo>
                  <a:lnTo>
                    <a:pt x="717677" y="38100"/>
                  </a:lnTo>
                  <a:lnTo>
                    <a:pt x="641477" y="76200"/>
                  </a:lnTo>
                  <a:lnTo>
                    <a:pt x="641477" y="44450"/>
                  </a:lnTo>
                  <a:lnTo>
                    <a:pt x="0" y="44450"/>
                  </a:lnTo>
                  <a:lnTo>
                    <a:pt x="0" y="31750"/>
                  </a:lnTo>
                  <a:lnTo>
                    <a:pt x="641477" y="31750"/>
                  </a:lnTo>
                  <a:lnTo>
                    <a:pt x="641477"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IN"/>
            </a:p>
          </p:txBody>
        </p:sp>
        <p:sp>
          <p:nvSpPr>
            <p:cNvPr id="13" name="Shape 660">
              <a:extLst>
                <a:ext uri="{FF2B5EF4-FFF2-40B4-BE49-F238E27FC236}">
                  <a16:creationId xmlns:a16="http://schemas.microsoft.com/office/drawing/2014/main" id="{139F8F01-4B7D-75DE-5ABB-D158B5281257}"/>
                </a:ext>
              </a:extLst>
            </p:cNvPr>
            <p:cNvSpPr/>
            <p:nvPr/>
          </p:nvSpPr>
          <p:spPr>
            <a:xfrm>
              <a:off x="1748028" y="4209288"/>
              <a:ext cx="717677" cy="76200"/>
            </a:xfrm>
            <a:custGeom>
              <a:avLst/>
              <a:gdLst/>
              <a:ahLst/>
              <a:cxnLst/>
              <a:rect l="0" t="0" r="0" b="0"/>
              <a:pathLst>
                <a:path w="717677" h="76200">
                  <a:moveTo>
                    <a:pt x="641477" y="0"/>
                  </a:moveTo>
                  <a:lnTo>
                    <a:pt x="717677" y="38100"/>
                  </a:lnTo>
                  <a:lnTo>
                    <a:pt x="641477" y="76200"/>
                  </a:lnTo>
                  <a:lnTo>
                    <a:pt x="641477" y="44450"/>
                  </a:lnTo>
                  <a:lnTo>
                    <a:pt x="0" y="44450"/>
                  </a:lnTo>
                  <a:lnTo>
                    <a:pt x="0" y="31750"/>
                  </a:lnTo>
                  <a:lnTo>
                    <a:pt x="641477" y="31750"/>
                  </a:lnTo>
                  <a:lnTo>
                    <a:pt x="641477"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IN"/>
            </a:p>
          </p:txBody>
        </p:sp>
        <p:sp>
          <p:nvSpPr>
            <p:cNvPr id="14" name="Shape 661">
              <a:extLst>
                <a:ext uri="{FF2B5EF4-FFF2-40B4-BE49-F238E27FC236}">
                  <a16:creationId xmlns:a16="http://schemas.microsoft.com/office/drawing/2014/main" id="{C9FF22B9-DF81-0C70-560E-FFD75C8CAA2F}"/>
                </a:ext>
              </a:extLst>
            </p:cNvPr>
            <p:cNvSpPr/>
            <p:nvPr/>
          </p:nvSpPr>
          <p:spPr>
            <a:xfrm>
              <a:off x="1748028" y="2985516"/>
              <a:ext cx="717677" cy="76200"/>
            </a:xfrm>
            <a:custGeom>
              <a:avLst/>
              <a:gdLst/>
              <a:ahLst/>
              <a:cxnLst/>
              <a:rect l="0" t="0" r="0" b="0"/>
              <a:pathLst>
                <a:path w="717677" h="76200">
                  <a:moveTo>
                    <a:pt x="641477" y="0"/>
                  </a:moveTo>
                  <a:lnTo>
                    <a:pt x="717677" y="38100"/>
                  </a:lnTo>
                  <a:lnTo>
                    <a:pt x="641477" y="76200"/>
                  </a:lnTo>
                  <a:lnTo>
                    <a:pt x="641477" y="44450"/>
                  </a:lnTo>
                  <a:lnTo>
                    <a:pt x="0" y="44450"/>
                  </a:lnTo>
                  <a:lnTo>
                    <a:pt x="0" y="31750"/>
                  </a:lnTo>
                  <a:lnTo>
                    <a:pt x="641477" y="31750"/>
                  </a:lnTo>
                  <a:lnTo>
                    <a:pt x="641477"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IN"/>
            </a:p>
          </p:txBody>
        </p:sp>
        <p:sp>
          <p:nvSpPr>
            <p:cNvPr id="15" name="Shape 662">
              <a:extLst>
                <a:ext uri="{FF2B5EF4-FFF2-40B4-BE49-F238E27FC236}">
                  <a16:creationId xmlns:a16="http://schemas.microsoft.com/office/drawing/2014/main" id="{D88AE331-9173-4CED-30CD-0D3E212D82F5}"/>
                </a:ext>
              </a:extLst>
            </p:cNvPr>
            <p:cNvSpPr/>
            <p:nvPr/>
          </p:nvSpPr>
          <p:spPr>
            <a:xfrm>
              <a:off x="3342132" y="699516"/>
              <a:ext cx="76200" cy="484251"/>
            </a:xfrm>
            <a:custGeom>
              <a:avLst/>
              <a:gdLst/>
              <a:ahLst/>
              <a:cxnLst/>
              <a:rect l="0" t="0" r="0" b="0"/>
              <a:pathLst>
                <a:path w="76200" h="484251">
                  <a:moveTo>
                    <a:pt x="31750" y="0"/>
                  </a:moveTo>
                  <a:lnTo>
                    <a:pt x="44450" y="0"/>
                  </a:lnTo>
                  <a:lnTo>
                    <a:pt x="44450" y="408051"/>
                  </a:lnTo>
                  <a:lnTo>
                    <a:pt x="76200" y="408051"/>
                  </a:lnTo>
                  <a:lnTo>
                    <a:pt x="38100" y="484251"/>
                  </a:lnTo>
                  <a:lnTo>
                    <a:pt x="0" y="408051"/>
                  </a:lnTo>
                  <a:lnTo>
                    <a:pt x="31750" y="408051"/>
                  </a:lnTo>
                  <a:lnTo>
                    <a:pt x="31750" y="0"/>
                  </a:ln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IN"/>
            </a:p>
          </p:txBody>
        </p:sp>
        <p:sp>
          <p:nvSpPr>
            <p:cNvPr id="16" name="Shape 664">
              <a:extLst>
                <a:ext uri="{FF2B5EF4-FFF2-40B4-BE49-F238E27FC236}">
                  <a16:creationId xmlns:a16="http://schemas.microsoft.com/office/drawing/2014/main" id="{1D12805E-0571-6098-00FF-DF018EBA0A67}"/>
                </a:ext>
              </a:extLst>
            </p:cNvPr>
            <p:cNvSpPr/>
            <p:nvPr/>
          </p:nvSpPr>
          <p:spPr>
            <a:xfrm>
              <a:off x="114300" y="1459992"/>
              <a:ext cx="1613916" cy="775716"/>
            </a:xfrm>
            <a:custGeom>
              <a:avLst/>
              <a:gdLst/>
              <a:ahLst/>
              <a:cxnLst/>
              <a:rect l="0" t="0" r="0" b="0"/>
              <a:pathLst>
                <a:path w="1613916" h="775716">
                  <a:moveTo>
                    <a:pt x="0" y="387858"/>
                  </a:moveTo>
                  <a:cubicBezTo>
                    <a:pt x="0" y="173609"/>
                    <a:pt x="361315" y="0"/>
                    <a:pt x="806958" y="0"/>
                  </a:cubicBezTo>
                  <a:cubicBezTo>
                    <a:pt x="1252601" y="0"/>
                    <a:pt x="1613916" y="173609"/>
                    <a:pt x="1613916" y="387858"/>
                  </a:cubicBezTo>
                  <a:cubicBezTo>
                    <a:pt x="1613916" y="602107"/>
                    <a:pt x="1252601" y="775716"/>
                    <a:pt x="806958" y="775716"/>
                  </a:cubicBezTo>
                  <a:cubicBezTo>
                    <a:pt x="361315" y="775716"/>
                    <a:pt x="0" y="602107"/>
                    <a:pt x="0" y="387858"/>
                  </a:cubicBezTo>
                  <a:close/>
                </a:path>
              </a:pathLst>
            </a:custGeom>
            <a:ln w="12700" cap="flat">
              <a:miter lim="127000"/>
            </a:ln>
          </p:spPr>
          <p:style>
            <a:lnRef idx="1">
              <a:srgbClr val="70AD47"/>
            </a:lnRef>
            <a:fillRef idx="0">
              <a:srgbClr val="000000">
                <a:alpha val="0"/>
              </a:srgbClr>
            </a:fillRef>
            <a:effectRef idx="0">
              <a:scrgbClr r="0" g="0" b="0"/>
            </a:effectRef>
            <a:fontRef idx="none"/>
          </p:style>
          <p:txBody>
            <a:bodyPr/>
            <a:lstStyle/>
            <a:p>
              <a:endParaRPr lang="en-IN"/>
            </a:p>
          </p:txBody>
        </p:sp>
        <p:sp>
          <p:nvSpPr>
            <p:cNvPr id="17" name="Rectangle 16">
              <a:extLst>
                <a:ext uri="{FF2B5EF4-FFF2-40B4-BE49-F238E27FC236}">
                  <a16:creationId xmlns:a16="http://schemas.microsoft.com/office/drawing/2014/main" id="{FE5A032B-8A19-EE0B-BF94-82941C6C01DA}"/>
                </a:ext>
              </a:extLst>
            </p:cNvPr>
            <p:cNvSpPr/>
            <p:nvPr/>
          </p:nvSpPr>
          <p:spPr>
            <a:xfrm>
              <a:off x="522986" y="1504518"/>
              <a:ext cx="1161020" cy="448760"/>
            </a:xfrm>
            <a:prstGeom prst="rect">
              <a:avLst/>
            </a:prstGeom>
            <a:ln>
              <a:noFill/>
            </a:ln>
          </p:spPr>
          <p:txBody>
            <a:bodyPr vert="horz" lIns="0" tIns="0" rIns="0" bIns="0" rtlCol="0">
              <a:noAutofit/>
            </a:bodyPr>
            <a:lstStyle/>
            <a:p>
              <a:pPr>
                <a:lnSpc>
                  <a:spcPct val="107000"/>
                </a:lnSpc>
                <a:spcAft>
                  <a:spcPts val="800"/>
                </a:spcAft>
              </a:pPr>
              <a:r>
                <a:rPr lang="en-IN" sz="2400" kern="100" dirty="0">
                  <a:solidFill>
                    <a:srgbClr val="000000"/>
                  </a:solidFill>
                  <a:effectLst/>
                  <a:latin typeface="Times New Roman" panose="02020603050405020304" pitchFamily="18" charset="0"/>
                  <a:ea typeface="Times New Roman" panose="02020603050405020304" pitchFamily="18" charset="0"/>
                </a:rPr>
                <a:t>RTC </a:t>
              </a:r>
              <a:endParaRPr lang="en-IN" sz="1100" kern="100" dirty="0">
                <a:solidFill>
                  <a:srgbClr val="000000"/>
                </a:solidFill>
                <a:effectLst/>
                <a:latin typeface="Calibri" panose="020F0502020204030204" pitchFamily="34" charset="0"/>
                <a:ea typeface="Calibri" panose="020F0502020204030204" pitchFamily="34" charset="0"/>
              </a:endParaRPr>
            </a:p>
          </p:txBody>
        </p:sp>
        <p:sp>
          <p:nvSpPr>
            <p:cNvPr id="20" name="Shape 668">
              <a:extLst>
                <a:ext uri="{FF2B5EF4-FFF2-40B4-BE49-F238E27FC236}">
                  <a16:creationId xmlns:a16="http://schemas.microsoft.com/office/drawing/2014/main" id="{04245E53-D7BC-2DD5-355A-38C7A69AC327}"/>
                </a:ext>
              </a:extLst>
            </p:cNvPr>
            <p:cNvSpPr/>
            <p:nvPr/>
          </p:nvSpPr>
          <p:spPr>
            <a:xfrm>
              <a:off x="5000244" y="4006596"/>
              <a:ext cx="1645942" cy="775716"/>
            </a:xfrm>
            <a:custGeom>
              <a:avLst/>
              <a:gdLst/>
              <a:ahLst/>
              <a:cxnLst/>
              <a:rect l="0" t="0" r="0" b="0"/>
              <a:pathLst>
                <a:path w="1458468" h="775716">
                  <a:moveTo>
                    <a:pt x="0" y="387858"/>
                  </a:moveTo>
                  <a:cubicBezTo>
                    <a:pt x="0" y="173609"/>
                    <a:pt x="326517" y="0"/>
                    <a:pt x="729235" y="0"/>
                  </a:cubicBezTo>
                  <a:cubicBezTo>
                    <a:pt x="1131951" y="0"/>
                    <a:pt x="1458468" y="173609"/>
                    <a:pt x="1458468" y="387858"/>
                  </a:cubicBezTo>
                  <a:cubicBezTo>
                    <a:pt x="1458468" y="602069"/>
                    <a:pt x="1131951" y="775716"/>
                    <a:pt x="729235" y="775716"/>
                  </a:cubicBezTo>
                  <a:cubicBezTo>
                    <a:pt x="326517" y="775716"/>
                    <a:pt x="0" y="602069"/>
                    <a:pt x="0" y="387858"/>
                  </a:cubicBezTo>
                  <a:close/>
                </a:path>
              </a:pathLst>
            </a:custGeom>
            <a:ln w="12700" cap="flat">
              <a:miter lim="127000"/>
            </a:ln>
          </p:spPr>
          <p:style>
            <a:lnRef idx="1">
              <a:srgbClr val="70AD47"/>
            </a:lnRef>
            <a:fillRef idx="0">
              <a:srgbClr val="000000">
                <a:alpha val="0"/>
              </a:srgbClr>
            </a:fillRef>
            <a:effectRef idx="0">
              <a:scrgbClr r="0" g="0" b="0"/>
            </a:effectRef>
            <a:fontRef idx="none"/>
          </p:style>
          <p:txBody>
            <a:bodyPr/>
            <a:lstStyle/>
            <a:p>
              <a:endParaRPr lang="en-IN" dirty="0"/>
            </a:p>
          </p:txBody>
        </p:sp>
        <p:sp>
          <p:nvSpPr>
            <p:cNvPr id="21" name="Shape 670">
              <a:extLst>
                <a:ext uri="{FF2B5EF4-FFF2-40B4-BE49-F238E27FC236}">
                  <a16:creationId xmlns:a16="http://schemas.microsoft.com/office/drawing/2014/main" id="{9DE4C01A-89FA-0AB1-A6D1-F989AA5D5EC5}"/>
                </a:ext>
              </a:extLst>
            </p:cNvPr>
            <p:cNvSpPr/>
            <p:nvPr/>
          </p:nvSpPr>
          <p:spPr>
            <a:xfrm>
              <a:off x="5012182" y="3094830"/>
              <a:ext cx="1517904" cy="858012"/>
            </a:xfrm>
            <a:custGeom>
              <a:avLst/>
              <a:gdLst/>
              <a:ahLst/>
              <a:cxnLst/>
              <a:rect l="0" t="0" r="0" b="0"/>
              <a:pathLst>
                <a:path w="1517904" h="858012">
                  <a:moveTo>
                    <a:pt x="0" y="429006"/>
                  </a:moveTo>
                  <a:cubicBezTo>
                    <a:pt x="0" y="192024"/>
                    <a:pt x="339852" y="0"/>
                    <a:pt x="758952" y="0"/>
                  </a:cubicBezTo>
                  <a:cubicBezTo>
                    <a:pt x="1178052" y="0"/>
                    <a:pt x="1517904" y="192024"/>
                    <a:pt x="1517904" y="429006"/>
                  </a:cubicBezTo>
                  <a:cubicBezTo>
                    <a:pt x="1517904" y="665988"/>
                    <a:pt x="1178052" y="858012"/>
                    <a:pt x="758952" y="858012"/>
                  </a:cubicBezTo>
                  <a:cubicBezTo>
                    <a:pt x="339852" y="858012"/>
                    <a:pt x="0" y="665988"/>
                    <a:pt x="0" y="429006"/>
                  </a:cubicBezTo>
                  <a:close/>
                </a:path>
              </a:pathLst>
            </a:custGeom>
            <a:ln w="12700" cap="flat">
              <a:miter lim="127000"/>
            </a:ln>
          </p:spPr>
          <p:style>
            <a:lnRef idx="1">
              <a:srgbClr val="70AD47"/>
            </a:lnRef>
            <a:fillRef idx="0">
              <a:srgbClr val="000000">
                <a:alpha val="0"/>
              </a:srgbClr>
            </a:fillRef>
            <a:effectRef idx="0">
              <a:scrgbClr r="0" g="0" b="0"/>
            </a:effectRef>
            <a:fontRef idx="none"/>
          </p:style>
          <p:txBody>
            <a:bodyPr/>
            <a:lstStyle/>
            <a:p>
              <a:endParaRPr lang="en-IN"/>
            </a:p>
          </p:txBody>
        </p:sp>
        <p:sp>
          <p:nvSpPr>
            <p:cNvPr id="22" name="Shape 672">
              <a:extLst>
                <a:ext uri="{FF2B5EF4-FFF2-40B4-BE49-F238E27FC236}">
                  <a16:creationId xmlns:a16="http://schemas.microsoft.com/office/drawing/2014/main" id="{2162D6E7-1EF1-4F50-A1E0-2D9E8A8D6579}"/>
                </a:ext>
              </a:extLst>
            </p:cNvPr>
            <p:cNvSpPr/>
            <p:nvPr/>
          </p:nvSpPr>
          <p:spPr>
            <a:xfrm>
              <a:off x="5032248" y="2243328"/>
              <a:ext cx="1487424" cy="728472"/>
            </a:xfrm>
            <a:custGeom>
              <a:avLst/>
              <a:gdLst/>
              <a:ahLst/>
              <a:cxnLst/>
              <a:rect l="0" t="0" r="0" b="0"/>
              <a:pathLst>
                <a:path w="1487424" h="728472">
                  <a:moveTo>
                    <a:pt x="0" y="364236"/>
                  </a:moveTo>
                  <a:cubicBezTo>
                    <a:pt x="0" y="163068"/>
                    <a:pt x="332994" y="0"/>
                    <a:pt x="743712" y="0"/>
                  </a:cubicBezTo>
                  <a:cubicBezTo>
                    <a:pt x="1154430" y="0"/>
                    <a:pt x="1487424" y="163068"/>
                    <a:pt x="1487424" y="364236"/>
                  </a:cubicBezTo>
                  <a:cubicBezTo>
                    <a:pt x="1487424" y="565404"/>
                    <a:pt x="1154430" y="728472"/>
                    <a:pt x="743712" y="728472"/>
                  </a:cubicBezTo>
                  <a:cubicBezTo>
                    <a:pt x="332994" y="728472"/>
                    <a:pt x="0" y="565404"/>
                    <a:pt x="0" y="364236"/>
                  </a:cubicBezTo>
                  <a:close/>
                </a:path>
              </a:pathLst>
            </a:custGeom>
            <a:ln w="12700" cap="flat">
              <a:miter lim="127000"/>
            </a:ln>
          </p:spPr>
          <p:style>
            <a:lnRef idx="1">
              <a:srgbClr val="70AD47"/>
            </a:lnRef>
            <a:fillRef idx="0">
              <a:srgbClr val="000000">
                <a:alpha val="0"/>
              </a:srgbClr>
            </a:fillRef>
            <a:effectRef idx="0">
              <a:scrgbClr r="0" g="0" b="0"/>
            </a:effectRef>
            <a:fontRef idx="none"/>
          </p:style>
          <p:txBody>
            <a:bodyPr/>
            <a:lstStyle/>
            <a:p>
              <a:endParaRPr lang="en-IN"/>
            </a:p>
          </p:txBody>
        </p:sp>
        <p:sp>
          <p:nvSpPr>
            <p:cNvPr id="23" name="Shape 674">
              <a:extLst>
                <a:ext uri="{FF2B5EF4-FFF2-40B4-BE49-F238E27FC236}">
                  <a16:creationId xmlns:a16="http://schemas.microsoft.com/office/drawing/2014/main" id="{37556FE1-E725-FBD9-D55F-185F2CE74A65}"/>
                </a:ext>
              </a:extLst>
            </p:cNvPr>
            <p:cNvSpPr/>
            <p:nvPr/>
          </p:nvSpPr>
          <p:spPr>
            <a:xfrm>
              <a:off x="5059680" y="1432560"/>
              <a:ext cx="1458468" cy="672084"/>
            </a:xfrm>
            <a:custGeom>
              <a:avLst/>
              <a:gdLst/>
              <a:ahLst/>
              <a:cxnLst/>
              <a:rect l="0" t="0" r="0" b="0"/>
              <a:pathLst>
                <a:path w="1458468" h="672084">
                  <a:moveTo>
                    <a:pt x="0" y="336042"/>
                  </a:moveTo>
                  <a:cubicBezTo>
                    <a:pt x="0" y="150495"/>
                    <a:pt x="326517" y="0"/>
                    <a:pt x="729235" y="0"/>
                  </a:cubicBezTo>
                  <a:cubicBezTo>
                    <a:pt x="1131951" y="0"/>
                    <a:pt x="1458468" y="150495"/>
                    <a:pt x="1458468" y="336042"/>
                  </a:cubicBezTo>
                  <a:cubicBezTo>
                    <a:pt x="1458468" y="521589"/>
                    <a:pt x="1131951" y="672084"/>
                    <a:pt x="729235" y="672084"/>
                  </a:cubicBezTo>
                  <a:cubicBezTo>
                    <a:pt x="326517" y="672084"/>
                    <a:pt x="0" y="521589"/>
                    <a:pt x="0" y="336042"/>
                  </a:cubicBezTo>
                  <a:close/>
                </a:path>
              </a:pathLst>
            </a:custGeom>
            <a:ln w="12700" cap="flat">
              <a:miter lim="127000"/>
            </a:ln>
          </p:spPr>
          <p:style>
            <a:lnRef idx="1">
              <a:srgbClr val="70AD47"/>
            </a:lnRef>
            <a:fillRef idx="0">
              <a:srgbClr val="000000">
                <a:alpha val="0"/>
              </a:srgbClr>
            </a:fillRef>
            <a:effectRef idx="0">
              <a:scrgbClr r="0" g="0" b="0"/>
            </a:effectRef>
            <a:fontRef idx="none"/>
          </p:style>
          <p:txBody>
            <a:bodyPr/>
            <a:lstStyle/>
            <a:p>
              <a:endParaRPr lang="en-IN"/>
            </a:p>
          </p:txBody>
        </p:sp>
        <p:sp>
          <p:nvSpPr>
            <p:cNvPr id="24" name="Shape 675">
              <a:extLst>
                <a:ext uri="{FF2B5EF4-FFF2-40B4-BE49-F238E27FC236}">
                  <a16:creationId xmlns:a16="http://schemas.microsoft.com/office/drawing/2014/main" id="{013AA80F-A8C5-0419-B9F5-95111C7624B0}"/>
                </a:ext>
              </a:extLst>
            </p:cNvPr>
            <p:cNvSpPr/>
            <p:nvPr/>
          </p:nvSpPr>
          <p:spPr>
            <a:xfrm>
              <a:off x="0" y="3858768"/>
              <a:ext cx="1828800" cy="775716"/>
            </a:xfrm>
            <a:custGeom>
              <a:avLst/>
              <a:gdLst/>
              <a:ahLst/>
              <a:cxnLst/>
              <a:rect l="0" t="0" r="0" b="0"/>
              <a:pathLst>
                <a:path w="1828800" h="775716">
                  <a:moveTo>
                    <a:pt x="914400" y="0"/>
                  </a:moveTo>
                  <a:cubicBezTo>
                    <a:pt x="1419352" y="0"/>
                    <a:pt x="1828800" y="173609"/>
                    <a:pt x="1828800" y="387858"/>
                  </a:cubicBezTo>
                  <a:cubicBezTo>
                    <a:pt x="1828800" y="602107"/>
                    <a:pt x="1419352" y="775716"/>
                    <a:pt x="914400" y="775716"/>
                  </a:cubicBezTo>
                  <a:cubicBezTo>
                    <a:pt x="409448" y="775716"/>
                    <a:pt x="0" y="602107"/>
                    <a:pt x="0" y="387858"/>
                  </a:cubicBezTo>
                  <a:cubicBezTo>
                    <a:pt x="0" y="173609"/>
                    <a:pt x="409448" y="0"/>
                    <a:pt x="914400" y="0"/>
                  </a:cubicBezTo>
                  <a:close/>
                </a:path>
              </a:pathLst>
            </a:custGeom>
            <a:ln w="0" cap="flat">
              <a:miter lim="127000"/>
            </a:ln>
          </p:spPr>
          <p:style>
            <a:lnRef idx="0">
              <a:srgbClr val="000000">
                <a:alpha val="0"/>
              </a:srgbClr>
            </a:lnRef>
            <a:fillRef idx="1">
              <a:srgbClr val="FFFFFF"/>
            </a:fillRef>
            <a:effectRef idx="0">
              <a:scrgbClr r="0" g="0" b="0"/>
            </a:effectRef>
            <a:fontRef idx="none"/>
          </p:style>
          <p:txBody>
            <a:bodyPr/>
            <a:lstStyle/>
            <a:p>
              <a:endParaRPr lang="en-IN" dirty="0"/>
            </a:p>
          </p:txBody>
        </p:sp>
        <p:sp>
          <p:nvSpPr>
            <p:cNvPr id="25" name="Shape 676">
              <a:extLst>
                <a:ext uri="{FF2B5EF4-FFF2-40B4-BE49-F238E27FC236}">
                  <a16:creationId xmlns:a16="http://schemas.microsoft.com/office/drawing/2014/main" id="{4939573B-BF26-1D4A-8319-EDF01E3ABDD8}"/>
                </a:ext>
              </a:extLst>
            </p:cNvPr>
            <p:cNvSpPr/>
            <p:nvPr/>
          </p:nvSpPr>
          <p:spPr>
            <a:xfrm>
              <a:off x="0" y="3858768"/>
              <a:ext cx="1828800" cy="775716"/>
            </a:xfrm>
            <a:custGeom>
              <a:avLst/>
              <a:gdLst/>
              <a:ahLst/>
              <a:cxnLst/>
              <a:rect l="0" t="0" r="0" b="0"/>
              <a:pathLst>
                <a:path w="1828800" h="775716">
                  <a:moveTo>
                    <a:pt x="0" y="387858"/>
                  </a:moveTo>
                  <a:cubicBezTo>
                    <a:pt x="0" y="173609"/>
                    <a:pt x="409448" y="0"/>
                    <a:pt x="914400" y="0"/>
                  </a:cubicBezTo>
                  <a:cubicBezTo>
                    <a:pt x="1419352" y="0"/>
                    <a:pt x="1828800" y="173609"/>
                    <a:pt x="1828800" y="387858"/>
                  </a:cubicBezTo>
                  <a:cubicBezTo>
                    <a:pt x="1828800" y="602107"/>
                    <a:pt x="1419352" y="775716"/>
                    <a:pt x="914400" y="775716"/>
                  </a:cubicBezTo>
                  <a:cubicBezTo>
                    <a:pt x="409448" y="775716"/>
                    <a:pt x="0" y="602107"/>
                    <a:pt x="0" y="387858"/>
                  </a:cubicBezTo>
                  <a:close/>
                </a:path>
              </a:pathLst>
            </a:custGeom>
            <a:ln w="12700" cap="flat">
              <a:miter lim="127000"/>
            </a:ln>
          </p:spPr>
          <p:style>
            <a:lnRef idx="1">
              <a:srgbClr val="70AD47"/>
            </a:lnRef>
            <a:fillRef idx="0">
              <a:srgbClr val="000000">
                <a:alpha val="0"/>
              </a:srgbClr>
            </a:fillRef>
            <a:effectRef idx="0">
              <a:scrgbClr r="0" g="0" b="0"/>
            </a:effectRef>
            <a:fontRef idx="none"/>
          </p:style>
          <p:txBody>
            <a:bodyPr/>
            <a:lstStyle/>
            <a:p>
              <a:endParaRPr lang="en-IN"/>
            </a:p>
          </p:txBody>
        </p:sp>
        <p:sp>
          <p:nvSpPr>
            <p:cNvPr id="26" name="Rectangle 25">
              <a:extLst>
                <a:ext uri="{FF2B5EF4-FFF2-40B4-BE49-F238E27FC236}">
                  <a16:creationId xmlns:a16="http://schemas.microsoft.com/office/drawing/2014/main" id="{FE0D55B5-207F-3DCC-22AB-07FCC0BBF6CB}"/>
                </a:ext>
              </a:extLst>
            </p:cNvPr>
            <p:cNvSpPr/>
            <p:nvPr/>
          </p:nvSpPr>
          <p:spPr>
            <a:xfrm>
              <a:off x="360934" y="4060905"/>
              <a:ext cx="1470028" cy="523254"/>
            </a:xfrm>
            <a:prstGeom prst="rect">
              <a:avLst/>
            </a:prstGeom>
            <a:ln>
              <a:noFill/>
            </a:ln>
          </p:spPr>
          <p:txBody>
            <a:bodyPr vert="horz" lIns="0" tIns="0" rIns="0" bIns="0" rtlCol="0">
              <a:noAutofit/>
            </a:bodyPr>
            <a:lstStyle/>
            <a:p>
              <a:pPr>
                <a:lnSpc>
                  <a:spcPct val="107000"/>
                </a:lnSpc>
                <a:spcAft>
                  <a:spcPts val="800"/>
                </a:spcAft>
              </a:pPr>
              <a:r>
                <a:rPr lang="en-IN" sz="2800" kern="100" dirty="0">
                  <a:solidFill>
                    <a:srgbClr val="000000"/>
                  </a:solidFill>
                  <a:latin typeface="Times New Roman" panose="02020603050405020304" pitchFamily="18" charset="0"/>
                  <a:ea typeface="Times New Roman" panose="02020603050405020304" pitchFamily="18" charset="0"/>
                </a:rPr>
                <a:t>App</a:t>
              </a:r>
              <a:endParaRPr lang="en-IN" sz="1100" kern="100" dirty="0">
                <a:solidFill>
                  <a:srgbClr val="000000"/>
                </a:solidFill>
                <a:effectLst/>
                <a:latin typeface="Calibri" panose="020F0502020204030204" pitchFamily="34" charset="0"/>
                <a:ea typeface="Calibri" panose="020F0502020204030204" pitchFamily="34" charset="0"/>
              </a:endParaRPr>
            </a:p>
          </p:txBody>
        </p:sp>
        <p:sp>
          <p:nvSpPr>
            <p:cNvPr id="27" name="Shape 678">
              <a:extLst>
                <a:ext uri="{FF2B5EF4-FFF2-40B4-BE49-F238E27FC236}">
                  <a16:creationId xmlns:a16="http://schemas.microsoft.com/office/drawing/2014/main" id="{40618171-76DB-991F-F476-644A3281AA56}"/>
                </a:ext>
              </a:extLst>
            </p:cNvPr>
            <p:cNvSpPr/>
            <p:nvPr/>
          </p:nvSpPr>
          <p:spPr>
            <a:xfrm>
              <a:off x="2704837" y="29627"/>
              <a:ext cx="1097301" cy="649142"/>
            </a:xfrm>
            <a:custGeom>
              <a:avLst/>
              <a:gdLst/>
              <a:ahLst/>
              <a:cxnLst/>
              <a:rect l="0" t="0" r="0" b="0"/>
              <a:pathLst>
                <a:path w="1458468" h="751332">
                  <a:moveTo>
                    <a:pt x="729234" y="0"/>
                  </a:moveTo>
                  <a:cubicBezTo>
                    <a:pt x="1131951" y="0"/>
                    <a:pt x="1458468" y="168148"/>
                    <a:pt x="1458468" y="375666"/>
                  </a:cubicBezTo>
                  <a:cubicBezTo>
                    <a:pt x="1458468" y="583184"/>
                    <a:pt x="1131951" y="751332"/>
                    <a:pt x="729234" y="751332"/>
                  </a:cubicBezTo>
                  <a:cubicBezTo>
                    <a:pt x="326517" y="751332"/>
                    <a:pt x="0" y="583184"/>
                    <a:pt x="0" y="375666"/>
                  </a:cubicBezTo>
                  <a:cubicBezTo>
                    <a:pt x="0" y="168148"/>
                    <a:pt x="326517" y="0"/>
                    <a:pt x="729234" y="0"/>
                  </a:cubicBezTo>
                  <a:close/>
                </a:path>
              </a:pathLst>
            </a:custGeom>
            <a:ln w="0" cap="flat">
              <a:miter lim="127000"/>
            </a:ln>
          </p:spPr>
          <p:style>
            <a:lnRef idx="0">
              <a:srgbClr val="000000">
                <a:alpha val="0"/>
              </a:srgbClr>
            </a:lnRef>
            <a:fillRef idx="1">
              <a:srgbClr val="FFFFFF"/>
            </a:fillRef>
            <a:effectRef idx="0">
              <a:scrgbClr r="0" g="0" b="0"/>
            </a:effectRef>
            <a:fontRef idx="none"/>
          </p:style>
          <p:txBody>
            <a:bodyPr/>
            <a:lstStyle/>
            <a:p>
              <a:endParaRPr lang="en-IN"/>
            </a:p>
          </p:txBody>
        </p:sp>
        <p:sp>
          <p:nvSpPr>
            <p:cNvPr id="28" name="Shape 679">
              <a:extLst>
                <a:ext uri="{FF2B5EF4-FFF2-40B4-BE49-F238E27FC236}">
                  <a16:creationId xmlns:a16="http://schemas.microsoft.com/office/drawing/2014/main" id="{1EB1A967-21EC-8052-A74C-368278AB413F}"/>
                </a:ext>
              </a:extLst>
            </p:cNvPr>
            <p:cNvSpPr/>
            <p:nvPr/>
          </p:nvSpPr>
          <p:spPr>
            <a:xfrm>
              <a:off x="2274299" y="0"/>
              <a:ext cx="2008141" cy="751332"/>
            </a:xfrm>
            <a:custGeom>
              <a:avLst/>
              <a:gdLst/>
              <a:ahLst/>
              <a:cxnLst/>
              <a:rect l="0" t="0" r="0" b="0"/>
              <a:pathLst>
                <a:path w="1458468" h="751332">
                  <a:moveTo>
                    <a:pt x="0" y="375666"/>
                  </a:moveTo>
                  <a:cubicBezTo>
                    <a:pt x="0" y="168148"/>
                    <a:pt x="326517" y="0"/>
                    <a:pt x="729234" y="0"/>
                  </a:cubicBezTo>
                  <a:cubicBezTo>
                    <a:pt x="1131951" y="0"/>
                    <a:pt x="1458468" y="168148"/>
                    <a:pt x="1458468" y="375666"/>
                  </a:cubicBezTo>
                  <a:cubicBezTo>
                    <a:pt x="1458468" y="583184"/>
                    <a:pt x="1131951" y="751332"/>
                    <a:pt x="729234" y="751332"/>
                  </a:cubicBezTo>
                  <a:cubicBezTo>
                    <a:pt x="326517" y="751332"/>
                    <a:pt x="0" y="583184"/>
                    <a:pt x="0" y="375666"/>
                  </a:cubicBezTo>
                  <a:close/>
                </a:path>
              </a:pathLst>
            </a:custGeom>
            <a:ln w="12700" cap="flat">
              <a:miter lim="127000"/>
            </a:ln>
          </p:spPr>
          <p:style>
            <a:lnRef idx="1">
              <a:srgbClr val="70AD47"/>
            </a:lnRef>
            <a:fillRef idx="0">
              <a:srgbClr val="000000">
                <a:alpha val="0"/>
              </a:srgbClr>
            </a:fillRef>
            <a:effectRef idx="0">
              <a:scrgbClr r="0" g="0" b="0"/>
            </a:effectRef>
            <a:fontRef idx="none"/>
          </p:style>
          <p:txBody>
            <a:bodyPr/>
            <a:lstStyle/>
            <a:p>
              <a:endParaRPr lang="en-IN" dirty="0"/>
            </a:p>
          </p:txBody>
        </p:sp>
        <p:sp>
          <p:nvSpPr>
            <p:cNvPr id="29" name="Rectangle 28">
              <a:extLst>
                <a:ext uri="{FF2B5EF4-FFF2-40B4-BE49-F238E27FC236}">
                  <a16:creationId xmlns:a16="http://schemas.microsoft.com/office/drawing/2014/main" id="{711D4D40-7862-BDE7-FE89-D86605BEA442}"/>
                </a:ext>
              </a:extLst>
            </p:cNvPr>
            <p:cNvSpPr/>
            <p:nvPr/>
          </p:nvSpPr>
          <p:spPr>
            <a:xfrm>
              <a:off x="2794127" y="2246529"/>
              <a:ext cx="1529585" cy="481448"/>
            </a:xfrm>
            <a:prstGeom prst="rect">
              <a:avLst/>
            </a:prstGeom>
            <a:ln>
              <a:noFill/>
            </a:ln>
          </p:spPr>
          <p:txBody>
            <a:bodyPr vert="horz" lIns="0" tIns="0" rIns="0" bIns="0" rtlCol="0">
              <a:noAutofit/>
            </a:bodyPr>
            <a:lstStyle/>
            <a:p>
              <a:pPr>
                <a:lnSpc>
                  <a:spcPct val="107000"/>
                </a:lnSpc>
                <a:spcAft>
                  <a:spcPts val="800"/>
                </a:spcAft>
              </a:pPr>
              <a:r>
                <a:rPr lang="en-IN" sz="2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Arduino</a:t>
              </a:r>
              <a:endParaRPr lang="en-IN" sz="11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0" name="Rectangle 29">
              <a:extLst>
                <a:ext uri="{FF2B5EF4-FFF2-40B4-BE49-F238E27FC236}">
                  <a16:creationId xmlns:a16="http://schemas.microsoft.com/office/drawing/2014/main" id="{577C1A5E-6681-2ADE-DBC3-8EBBA5979DB7}"/>
                </a:ext>
              </a:extLst>
            </p:cNvPr>
            <p:cNvSpPr/>
            <p:nvPr/>
          </p:nvSpPr>
          <p:spPr>
            <a:xfrm>
              <a:off x="3022727" y="2673731"/>
              <a:ext cx="920931" cy="481035"/>
            </a:xfrm>
            <a:prstGeom prst="rect">
              <a:avLst/>
            </a:prstGeom>
            <a:ln>
              <a:noFill/>
            </a:ln>
          </p:spPr>
          <p:txBody>
            <a:bodyPr vert="horz" lIns="0" tIns="0" rIns="0" bIns="0" rtlCol="0">
              <a:noAutofit/>
            </a:bodyPr>
            <a:lstStyle/>
            <a:p>
              <a:pPr>
                <a:lnSpc>
                  <a:spcPct val="107000"/>
                </a:lnSpc>
                <a:spcAft>
                  <a:spcPts val="800"/>
                </a:spcAft>
              </a:pPr>
              <a:r>
                <a:rPr lang="en-IN" sz="2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UNO</a:t>
              </a:r>
              <a:endParaRPr lang="en-IN" sz="11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1" name="Rectangle 30">
              <a:extLst>
                <a:ext uri="{FF2B5EF4-FFF2-40B4-BE49-F238E27FC236}">
                  <a16:creationId xmlns:a16="http://schemas.microsoft.com/office/drawing/2014/main" id="{9C71BBDB-DC2F-906F-F502-FD172984DB4A}"/>
                </a:ext>
              </a:extLst>
            </p:cNvPr>
            <p:cNvSpPr/>
            <p:nvPr/>
          </p:nvSpPr>
          <p:spPr>
            <a:xfrm>
              <a:off x="2687447" y="3100451"/>
              <a:ext cx="751385" cy="481035"/>
            </a:xfrm>
            <a:prstGeom prst="rect">
              <a:avLst/>
            </a:prstGeom>
            <a:ln>
              <a:noFill/>
            </a:ln>
          </p:spPr>
          <p:txBody>
            <a:bodyPr vert="horz" lIns="0" tIns="0" rIns="0" bIns="0" rtlCol="0">
              <a:noAutofit/>
            </a:bodyPr>
            <a:lstStyle/>
            <a:p>
              <a:pPr>
                <a:lnSpc>
                  <a:spcPct val="107000"/>
                </a:lnSpc>
                <a:spcAft>
                  <a:spcPts val="800"/>
                </a:spcAft>
              </a:pPr>
              <a:r>
                <a:rPr lang="en-IN" sz="2800" kern="100">
                  <a:solidFill>
                    <a:srgbClr val="000000"/>
                  </a:solidFill>
                  <a:effectLst/>
                  <a:latin typeface="Calibri" panose="020F0502020204030204" pitchFamily="34" charset="0"/>
                  <a:ea typeface="Calibri" panose="020F0502020204030204" pitchFamily="34" charset="0"/>
                </a:rPr>
                <a:t>       </a:t>
              </a:r>
              <a:endParaRPr lang="en-IN" sz="1100" kern="100">
                <a:solidFill>
                  <a:srgbClr val="000000"/>
                </a:solidFill>
                <a:effectLst/>
                <a:latin typeface="Calibri" panose="020F0502020204030204" pitchFamily="34" charset="0"/>
                <a:ea typeface="Calibri" panose="020F0502020204030204" pitchFamily="34" charset="0"/>
              </a:endParaRPr>
            </a:p>
          </p:txBody>
        </p:sp>
        <p:sp>
          <p:nvSpPr>
            <p:cNvPr id="34" name="Rectangle 33">
              <a:extLst>
                <a:ext uri="{FF2B5EF4-FFF2-40B4-BE49-F238E27FC236}">
                  <a16:creationId xmlns:a16="http://schemas.microsoft.com/office/drawing/2014/main" id="{9413BB68-67C9-47FE-3D17-E8B5700BF760}"/>
                </a:ext>
              </a:extLst>
            </p:cNvPr>
            <p:cNvSpPr/>
            <p:nvPr/>
          </p:nvSpPr>
          <p:spPr>
            <a:xfrm>
              <a:off x="2579105" y="166086"/>
              <a:ext cx="1370354" cy="522806"/>
            </a:xfrm>
            <a:prstGeom prst="rect">
              <a:avLst/>
            </a:prstGeom>
            <a:ln>
              <a:noFill/>
            </a:ln>
          </p:spPr>
          <p:txBody>
            <a:bodyPr vert="horz" lIns="0" tIns="0" rIns="0" bIns="0" rtlCol="0">
              <a:noAutofit/>
            </a:bodyPr>
            <a:lstStyle/>
            <a:p>
              <a:pPr>
                <a:lnSpc>
                  <a:spcPct val="107000"/>
                </a:lnSpc>
                <a:spcAft>
                  <a:spcPts val="800"/>
                </a:spcAft>
              </a:pPr>
              <a:r>
                <a:rPr lang="en-IN" sz="2600" kern="100" dirty="0">
                  <a:solidFill>
                    <a:srgbClr val="000000"/>
                  </a:solidFill>
                  <a:latin typeface="Times New Roman" panose="02020603050405020304" pitchFamily="18" charset="0"/>
                  <a:ea typeface="Calibri" panose="020F0502020204030204" pitchFamily="34" charset="0"/>
                </a:rPr>
                <a:t>5v-12v</a:t>
              </a:r>
              <a:endParaRPr lang="en-IN" sz="2600" kern="100" dirty="0">
                <a:solidFill>
                  <a:srgbClr val="000000"/>
                </a:solidFill>
                <a:effectLst/>
                <a:latin typeface="Calibri" panose="020F0502020204030204" pitchFamily="34" charset="0"/>
                <a:ea typeface="Calibri" panose="020F0502020204030204" pitchFamily="34" charset="0"/>
              </a:endParaRPr>
            </a:p>
          </p:txBody>
        </p:sp>
        <p:sp>
          <p:nvSpPr>
            <p:cNvPr id="35" name="Rectangle 34">
              <a:extLst>
                <a:ext uri="{FF2B5EF4-FFF2-40B4-BE49-F238E27FC236}">
                  <a16:creationId xmlns:a16="http://schemas.microsoft.com/office/drawing/2014/main" id="{5C6E0D84-E71B-6F01-D2B4-B21F27F83C64}"/>
                </a:ext>
              </a:extLst>
            </p:cNvPr>
            <p:cNvSpPr/>
            <p:nvPr/>
          </p:nvSpPr>
          <p:spPr>
            <a:xfrm>
              <a:off x="5355082" y="1584930"/>
              <a:ext cx="943152" cy="522806"/>
            </a:xfrm>
            <a:prstGeom prst="rect">
              <a:avLst/>
            </a:prstGeom>
            <a:ln>
              <a:noFill/>
            </a:ln>
          </p:spPr>
          <p:txBody>
            <a:bodyPr vert="horz" lIns="0" tIns="0" rIns="0" bIns="0" rtlCol="0">
              <a:noAutofit/>
            </a:bodyPr>
            <a:lstStyle/>
            <a:p>
              <a:pPr>
                <a:lnSpc>
                  <a:spcPct val="107000"/>
                </a:lnSpc>
                <a:spcAft>
                  <a:spcPts val="800"/>
                </a:spcAft>
              </a:pPr>
              <a:r>
                <a:rPr lang="en-IN" sz="2800" kern="100">
                  <a:solidFill>
                    <a:srgbClr val="000000"/>
                  </a:solidFill>
                  <a:effectLst/>
                  <a:latin typeface="Times New Roman" panose="02020603050405020304" pitchFamily="18" charset="0"/>
                  <a:ea typeface="Times New Roman" panose="02020603050405020304" pitchFamily="18" charset="0"/>
                </a:rPr>
                <a:t>LCD</a:t>
              </a:r>
              <a:endParaRPr lang="en-IN" sz="1100" kern="100">
                <a:solidFill>
                  <a:srgbClr val="000000"/>
                </a:solidFill>
                <a:effectLst/>
                <a:latin typeface="Calibri" panose="020F0502020204030204" pitchFamily="34" charset="0"/>
                <a:ea typeface="Calibri" panose="020F0502020204030204" pitchFamily="34" charset="0"/>
              </a:endParaRPr>
            </a:p>
          </p:txBody>
        </p:sp>
        <p:sp>
          <p:nvSpPr>
            <p:cNvPr id="36" name="Rectangle 35">
              <a:extLst>
                <a:ext uri="{FF2B5EF4-FFF2-40B4-BE49-F238E27FC236}">
                  <a16:creationId xmlns:a16="http://schemas.microsoft.com/office/drawing/2014/main" id="{CD1C5055-E2B5-52F5-0549-7D4A1205D528}"/>
                </a:ext>
              </a:extLst>
            </p:cNvPr>
            <p:cNvSpPr/>
            <p:nvPr/>
          </p:nvSpPr>
          <p:spPr>
            <a:xfrm>
              <a:off x="5297424" y="2420971"/>
              <a:ext cx="1336062" cy="522806"/>
            </a:xfrm>
            <a:prstGeom prst="rect">
              <a:avLst/>
            </a:prstGeom>
            <a:ln>
              <a:noFill/>
            </a:ln>
          </p:spPr>
          <p:txBody>
            <a:bodyPr vert="horz" lIns="0" tIns="0" rIns="0" bIns="0" rtlCol="0">
              <a:noAutofit/>
            </a:bodyPr>
            <a:lstStyle/>
            <a:p>
              <a:pPr>
                <a:lnSpc>
                  <a:spcPct val="107000"/>
                </a:lnSpc>
                <a:spcAft>
                  <a:spcPts val="800"/>
                </a:spcAft>
              </a:pPr>
              <a:r>
                <a:rPr lang="en-IN" sz="2800" kern="100" dirty="0">
                  <a:solidFill>
                    <a:srgbClr val="000000"/>
                  </a:solidFill>
                  <a:effectLst/>
                  <a:latin typeface="Times New Roman" panose="02020603050405020304" pitchFamily="18" charset="0"/>
                  <a:ea typeface="Times New Roman" panose="02020603050405020304" pitchFamily="18" charset="0"/>
                </a:rPr>
                <a:t>Buzzer</a:t>
              </a:r>
              <a:endParaRPr lang="en-IN" sz="1100" kern="100" dirty="0">
                <a:solidFill>
                  <a:srgbClr val="000000"/>
                </a:solidFill>
                <a:effectLst/>
                <a:latin typeface="Calibri" panose="020F0502020204030204" pitchFamily="34" charset="0"/>
                <a:ea typeface="Calibri" panose="020F0502020204030204" pitchFamily="34" charset="0"/>
              </a:endParaRPr>
            </a:p>
          </p:txBody>
        </p:sp>
        <p:sp>
          <p:nvSpPr>
            <p:cNvPr id="37" name="Rectangle 36">
              <a:extLst>
                <a:ext uri="{FF2B5EF4-FFF2-40B4-BE49-F238E27FC236}">
                  <a16:creationId xmlns:a16="http://schemas.microsoft.com/office/drawing/2014/main" id="{BD0FEC5A-97D7-7BCC-3764-F18E8A11F571}"/>
                </a:ext>
              </a:extLst>
            </p:cNvPr>
            <p:cNvSpPr/>
            <p:nvPr/>
          </p:nvSpPr>
          <p:spPr>
            <a:xfrm>
              <a:off x="5355082" y="3226480"/>
              <a:ext cx="1163066" cy="519172"/>
            </a:xfrm>
            <a:prstGeom prst="rect">
              <a:avLst/>
            </a:prstGeom>
            <a:ln>
              <a:noFill/>
            </a:ln>
          </p:spPr>
          <p:txBody>
            <a:bodyPr vert="horz" lIns="0" tIns="0" rIns="0" bIns="0" rtlCol="0">
              <a:noAutofit/>
            </a:bodyPr>
            <a:lstStyle/>
            <a:p>
              <a:pPr>
                <a:lnSpc>
                  <a:spcPct val="107000"/>
                </a:lnSpc>
                <a:spcAft>
                  <a:spcPts val="800"/>
                </a:spcAft>
              </a:pPr>
              <a:r>
                <a:rPr lang="en-IN" sz="2800" kern="100" dirty="0">
                  <a:solidFill>
                    <a:srgbClr val="000000"/>
                  </a:solidFill>
                  <a:latin typeface="Times New Roman" panose="02020603050405020304" pitchFamily="18" charset="0"/>
                  <a:ea typeface="Calibri" panose="020F0502020204030204" pitchFamily="34" charset="0"/>
                </a:rPr>
                <a:t>Relay1</a:t>
              </a:r>
              <a:endParaRPr lang="en-IN" sz="1100" kern="100" dirty="0">
                <a:solidFill>
                  <a:srgbClr val="000000"/>
                </a:solidFill>
                <a:effectLst/>
                <a:latin typeface="Calibri" panose="020F0502020204030204" pitchFamily="34" charset="0"/>
                <a:ea typeface="Calibri" panose="020F0502020204030204" pitchFamily="34" charset="0"/>
              </a:endParaRPr>
            </a:p>
          </p:txBody>
        </p:sp>
        <p:sp>
          <p:nvSpPr>
            <p:cNvPr id="39" name="Rectangle 38">
              <a:extLst>
                <a:ext uri="{FF2B5EF4-FFF2-40B4-BE49-F238E27FC236}">
                  <a16:creationId xmlns:a16="http://schemas.microsoft.com/office/drawing/2014/main" id="{21E39DC5-B27A-8084-DEC4-2F96C2AF7D69}"/>
                </a:ext>
              </a:extLst>
            </p:cNvPr>
            <p:cNvSpPr/>
            <p:nvPr/>
          </p:nvSpPr>
          <p:spPr>
            <a:xfrm>
              <a:off x="5434329" y="4205304"/>
              <a:ext cx="1083816" cy="523254"/>
            </a:xfrm>
            <a:prstGeom prst="rect">
              <a:avLst/>
            </a:prstGeom>
            <a:ln>
              <a:noFill/>
            </a:ln>
          </p:spPr>
          <p:txBody>
            <a:bodyPr vert="horz" lIns="0" tIns="0" rIns="0" bIns="0" rtlCol="0">
              <a:noAutofit/>
            </a:bodyPr>
            <a:lstStyle/>
            <a:p>
              <a:pPr>
                <a:lnSpc>
                  <a:spcPct val="107000"/>
                </a:lnSpc>
                <a:spcAft>
                  <a:spcPts val="800"/>
                </a:spcAft>
              </a:pPr>
              <a:r>
                <a:rPr lang="en-IN" sz="2800" kern="1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Relay2</a:t>
              </a:r>
              <a:endParaRPr lang="en-IN" sz="2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endParaRPr lang="en-IN" sz="2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0" name="Shape 692">
              <a:extLst>
                <a:ext uri="{FF2B5EF4-FFF2-40B4-BE49-F238E27FC236}">
                  <a16:creationId xmlns:a16="http://schemas.microsoft.com/office/drawing/2014/main" id="{5602D73A-BFED-13B7-E6EC-A2C2ACCF0CB2}"/>
                </a:ext>
              </a:extLst>
            </p:cNvPr>
            <p:cNvSpPr/>
            <p:nvPr/>
          </p:nvSpPr>
          <p:spPr>
            <a:xfrm>
              <a:off x="100584" y="2648712"/>
              <a:ext cx="1627632" cy="765048"/>
            </a:xfrm>
            <a:custGeom>
              <a:avLst/>
              <a:gdLst/>
              <a:ahLst/>
              <a:cxnLst/>
              <a:rect l="0" t="0" r="0" b="0"/>
              <a:pathLst>
                <a:path w="1627632" h="765048">
                  <a:moveTo>
                    <a:pt x="0" y="382524"/>
                  </a:moveTo>
                  <a:cubicBezTo>
                    <a:pt x="0" y="171323"/>
                    <a:pt x="364363" y="0"/>
                    <a:pt x="813816" y="0"/>
                  </a:cubicBezTo>
                  <a:cubicBezTo>
                    <a:pt x="1263269" y="0"/>
                    <a:pt x="1627632" y="171323"/>
                    <a:pt x="1627632" y="382524"/>
                  </a:cubicBezTo>
                  <a:cubicBezTo>
                    <a:pt x="1627632" y="593725"/>
                    <a:pt x="1263269" y="765048"/>
                    <a:pt x="813816" y="765048"/>
                  </a:cubicBezTo>
                  <a:cubicBezTo>
                    <a:pt x="364363" y="765048"/>
                    <a:pt x="0" y="593725"/>
                    <a:pt x="0" y="382524"/>
                  </a:cubicBezTo>
                  <a:close/>
                </a:path>
              </a:pathLst>
            </a:custGeom>
            <a:ln w="12700" cap="flat">
              <a:miter lim="127000"/>
            </a:ln>
          </p:spPr>
          <p:style>
            <a:lnRef idx="1">
              <a:srgbClr val="70AD47"/>
            </a:lnRef>
            <a:fillRef idx="0">
              <a:srgbClr val="000000">
                <a:alpha val="0"/>
              </a:srgbClr>
            </a:fillRef>
            <a:effectRef idx="0">
              <a:scrgbClr r="0" g="0" b="0"/>
            </a:effectRef>
            <a:fontRef idx="none"/>
          </p:style>
          <p:txBody>
            <a:bodyPr/>
            <a:lstStyle/>
            <a:p>
              <a:endParaRPr lang="en-IN"/>
            </a:p>
          </p:txBody>
        </p:sp>
        <p:sp>
          <p:nvSpPr>
            <p:cNvPr id="41" name="Rectangle 40">
              <a:extLst>
                <a:ext uri="{FF2B5EF4-FFF2-40B4-BE49-F238E27FC236}">
                  <a16:creationId xmlns:a16="http://schemas.microsoft.com/office/drawing/2014/main" id="{02787F2E-1D67-21ED-8E58-868A14C11FA4}"/>
                </a:ext>
              </a:extLst>
            </p:cNvPr>
            <p:cNvSpPr/>
            <p:nvPr/>
          </p:nvSpPr>
          <p:spPr>
            <a:xfrm>
              <a:off x="512318" y="2845278"/>
              <a:ext cx="1067264" cy="522806"/>
            </a:xfrm>
            <a:prstGeom prst="rect">
              <a:avLst/>
            </a:prstGeom>
            <a:ln>
              <a:noFill/>
            </a:ln>
          </p:spPr>
          <p:txBody>
            <a:bodyPr vert="horz" lIns="0" tIns="0" rIns="0" bIns="0" rtlCol="0">
              <a:noAutofit/>
            </a:bodyPr>
            <a:lstStyle/>
            <a:p>
              <a:pPr>
                <a:lnSpc>
                  <a:spcPct val="107000"/>
                </a:lnSpc>
                <a:spcAft>
                  <a:spcPts val="800"/>
                </a:spcAft>
              </a:pPr>
              <a:r>
                <a:rPr lang="en-IN" sz="2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IoT</a:t>
              </a:r>
            </a:p>
          </p:txBody>
        </p:sp>
      </p:grpSp>
      <p:cxnSp>
        <p:nvCxnSpPr>
          <p:cNvPr id="46" name="Straight Arrow Connector 45">
            <a:extLst>
              <a:ext uri="{FF2B5EF4-FFF2-40B4-BE49-F238E27FC236}">
                <a16:creationId xmlns:a16="http://schemas.microsoft.com/office/drawing/2014/main" id="{6E43039B-F321-07E1-8DCE-16F610BE31F0}"/>
              </a:ext>
            </a:extLst>
          </p:cNvPr>
          <p:cNvCxnSpPr>
            <a:cxnSpLocks/>
          </p:cNvCxnSpPr>
          <p:nvPr/>
        </p:nvCxnSpPr>
        <p:spPr>
          <a:xfrm>
            <a:off x="9347200" y="4419600"/>
            <a:ext cx="447040" cy="101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13D134C5-0014-37BC-7C85-41ED4637E703}"/>
              </a:ext>
            </a:extLst>
          </p:cNvPr>
          <p:cNvSpPr/>
          <p:nvPr/>
        </p:nvSpPr>
        <p:spPr>
          <a:xfrm>
            <a:off x="9806304" y="4069699"/>
            <a:ext cx="1762756" cy="62422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800" dirty="0">
                <a:latin typeface="Times New Roman" panose="02020603050405020304" pitchFamily="18" charset="0"/>
                <a:cs typeface="Times New Roman" panose="02020603050405020304" pitchFamily="18" charset="0"/>
              </a:rPr>
              <a:t>Pump1</a:t>
            </a:r>
          </a:p>
        </p:txBody>
      </p:sp>
      <p:cxnSp>
        <p:nvCxnSpPr>
          <p:cNvPr id="58" name="Straight Arrow Connector 57">
            <a:extLst>
              <a:ext uri="{FF2B5EF4-FFF2-40B4-BE49-F238E27FC236}">
                <a16:creationId xmlns:a16="http://schemas.microsoft.com/office/drawing/2014/main" id="{AAD3794F-2A4D-4919-C395-FF20E61DE670}"/>
              </a:ext>
            </a:extLst>
          </p:cNvPr>
          <p:cNvCxnSpPr>
            <a:cxnSpLocks/>
          </p:cNvCxnSpPr>
          <p:nvPr/>
        </p:nvCxnSpPr>
        <p:spPr>
          <a:xfrm>
            <a:off x="9419028" y="5324299"/>
            <a:ext cx="447040" cy="101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2C809103-EF84-C806-C53B-DA0AE47A618F}"/>
              </a:ext>
            </a:extLst>
          </p:cNvPr>
          <p:cNvSpPr/>
          <p:nvPr/>
        </p:nvSpPr>
        <p:spPr>
          <a:xfrm>
            <a:off x="9866067" y="4937106"/>
            <a:ext cx="1911015" cy="70928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800" dirty="0">
                <a:latin typeface="Times New Roman" panose="02020603050405020304" pitchFamily="18" charset="0"/>
                <a:cs typeface="Times New Roman" panose="02020603050405020304" pitchFamily="18" charset="0"/>
              </a:rPr>
              <a:t>Pump2</a:t>
            </a:r>
          </a:p>
        </p:txBody>
      </p:sp>
      <p:sp>
        <p:nvSpPr>
          <p:cNvPr id="61" name="TextBox 60">
            <a:extLst>
              <a:ext uri="{FF2B5EF4-FFF2-40B4-BE49-F238E27FC236}">
                <a16:creationId xmlns:a16="http://schemas.microsoft.com/office/drawing/2014/main" id="{88EA4BA7-9658-E60D-BFDB-B14F79081079}"/>
              </a:ext>
            </a:extLst>
          </p:cNvPr>
          <p:cNvSpPr txBox="1"/>
          <p:nvPr/>
        </p:nvSpPr>
        <p:spPr>
          <a:xfrm>
            <a:off x="5120640" y="6085840"/>
            <a:ext cx="258064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Fig(1): Block Diagram of Water Dispensing system</a:t>
            </a:r>
          </a:p>
        </p:txBody>
      </p:sp>
    </p:spTree>
    <p:extLst>
      <p:ext uri="{BB962C8B-B14F-4D97-AF65-F5344CB8AC3E}">
        <p14:creationId xmlns:p14="http://schemas.microsoft.com/office/powerpoint/2010/main" val="257042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MODULES (SPLIT – UP)</a:t>
            </a:r>
          </a:p>
        </p:txBody>
      </p:sp>
      <p:sp>
        <p:nvSpPr>
          <p:cNvPr id="3" name="Content Placeholder 2"/>
          <p:cNvSpPr>
            <a:spLocks noGrp="1"/>
          </p:cNvSpPr>
          <p:nvPr>
            <p:ph idx="1"/>
          </p:nvPr>
        </p:nvSpPr>
        <p:spPr>
          <a:xfrm>
            <a:off x="293511" y="1203649"/>
            <a:ext cx="4969369" cy="4973314"/>
          </a:xfrm>
        </p:spPr>
        <p:txBody>
          <a:bodyPr>
            <a:normAutofit lnSpcReduction="10000"/>
          </a:bodyPr>
          <a:lstStyle/>
          <a:p>
            <a:pPr marL="0" indent="0" algn="just" eaLnBrk="0" fontAlgn="base" hangingPunct="0">
              <a:lnSpc>
                <a:spcPct val="150000"/>
              </a:lnSpc>
              <a:spcBef>
                <a:spcPct val="20000"/>
              </a:spcBef>
              <a:spcAft>
                <a:spcPct val="0"/>
              </a:spcAft>
              <a:buClr>
                <a:srgbClr val="00007D"/>
              </a:buClr>
              <a:buSzPct val="126000"/>
              <a:buNone/>
            </a:pPr>
            <a:r>
              <a:rPr lang="en-US" sz="2600" b="1" dirty="0">
                <a:solidFill>
                  <a:prstClr val="black"/>
                </a:solidFill>
                <a:latin typeface="Times New Roman" panose="02020603050405020304" pitchFamily="18" charset="0"/>
                <a:cs typeface="Times New Roman" panose="02020603050405020304" pitchFamily="18" charset="0"/>
              </a:rPr>
              <a:t> Hardware Used:</a:t>
            </a:r>
          </a:p>
          <a:p>
            <a:pPr marL="571500" indent="-571500" algn="just" eaLnBrk="0" fontAlgn="base" hangingPunct="0">
              <a:lnSpc>
                <a:spcPct val="150000"/>
              </a:lnSpc>
              <a:spcBef>
                <a:spcPct val="20000"/>
              </a:spcBef>
              <a:spcAft>
                <a:spcPct val="0"/>
              </a:spcAft>
              <a:buClr>
                <a:srgbClr val="00007D"/>
              </a:buClr>
              <a:buSzPct val="126000"/>
            </a:pPr>
            <a:r>
              <a:rPr lang="en-US" sz="2400" dirty="0">
                <a:solidFill>
                  <a:prstClr val="black"/>
                </a:solidFill>
                <a:latin typeface="Times New Roman" panose="02020603050405020304" pitchFamily="18" charset="0"/>
                <a:cs typeface="Times New Roman" panose="02020603050405020304" pitchFamily="18" charset="0"/>
              </a:rPr>
              <a:t>Arduino Uno</a:t>
            </a:r>
          </a:p>
          <a:p>
            <a:pPr marL="571500" indent="-571500" algn="just" eaLnBrk="0" fontAlgn="base" hangingPunct="0">
              <a:lnSpc>
                <a:spcPct val="150000"/>
              </a:lnSpc>
              <a:spcBef>
                <a:spcPct val="20000"/>
              </a:spcBef>
              <a:spcAft>
                <a:spcPct val="0"/>
              </a:spcAft>
              <a:buClr>
                <a:srgbClr val="00007D"/>
              </a:buClr>
              <a:buSzPct val="126000"/>
            </a:pPr>
            <a:r>
              <a:rPr lang="en-US" sz="2400" dirty="0">
                <a:solidFill>
                  <a:prstClr val="black"/>
                </a:solidFill>
                <a:latin typeface="Times New Roman" panose="02020603050405020304" pitchFamily="18" charset="0"/>
                <a:cs typeface="Times New Roman" panose="02020603050405020304" pitchFamily="18" charset="0"/>
              </a:rPr>
              <a:t>Relay</a:t>
            </a:r>
          </a:p>
          <a:p>
            <a:pPr marL="571500" indent="-571500" algn="just" eaLnBrk="0" fontAlgn="base" hangingPunct="0">
              <a:lnSpc>
                <a:spcPct val="150000"/>
              </a:lnSpc>
              <a:spcBef>
                <a:spcPct val="20000"/>
              </a:spcBef>
              <a:spcAft>
                <a:spcPct val="0"/>
              </a:spcAft>
              <a:buClr>
                <a:srgbClr val="00007D"/>
              </a:buClr>
              <a:buSzPct val="126000"/>
            </a:pPr>
            <a:r>
              <a:rPr lang="en-US" sz="2400" dirty="0">
                <a:solidFill>
                  <a:prstClr val="black"/>
                </a:solidFill>
                <a:latin typeface="Times New Roman" panose="02020603050405020304" pitchFamily="18" charset="0"/>
                <a:cs typeface="Times New Roman" panose="02020603050405020304" pitchFamily="18" charset="0"/>
              </a:rPr>
              <a:t>Pumps</a:t>
            </a:r>
          </a:p>
          <a:p>
            <a:pPr marL="571500" indent="-571500" algn="just" eaLnBrk="0" fontAlgn="base" hangingPunct="0">
              <a:lnSpc>
                <a:spcPct val="150000"/>
              </a:lnSpc>
              <a:spcBef>
                <a:spcPct val="20000"/>
              </a:spcBef>
              <a:spcAft>
                <a:spcPct val="0"/>
              </a:spcAft>
              <a:buClr>
                <a:srgbClr val="00007D"/>
              </a:buClr>
              <a:buSzPct val="126000"/>
            </a:pPr>
            <a:r>
              <a:rPr lang="en-US" sz="2400" dirty="0">
                <a:solidFill>
                  <a:prstClr val="black"/>
                </a:solidFill>
                <a:latin typeface="Times New Roman" panose="02020603050405020304" pitchFamily="18" charset="0"/>
                <a:cs typeface="Times New Roman" panose="02020603050405020304" pitchFamily="18" charset="0"/>
              </a:rPr>
              <a:t>LCD</a:t>
            </a:r>
          </a:p>
          <a:p>
            <a:pPr marL="571500" indent="-571500" algn="just" eaLnBrk="0" fontAlgn="base" hangingPunct="0">
              <a:lnSpc>
                <a:spcPct val="150000"/>
              </a:lnSpc>
              <a:spcBef>
                <a:spcPct val="20000"/>
              </a:spcBef>
              <a:spcAft>
                <a:spcPct val="0"/>
              </a:spcAft>
              <a:buClr>
                <a:srgbClr val="00007D"/>
              </a:buClr>
              <a:buSzPct val="126000"/>
            </a:pPr>
            <a:r>
              <a:rPr lang="en-US" sz="2400" dirty="0">
                <a:solidFill>
                  <a:prstClr val="black"/>
                </a:solidFill>
                <a:latin typeface="Times New Roman" panose="02020603050405020304" pitchFamily="18" charset="0"/>
                <a:cs typeface="Times New Roman" panose="02020603050405020304" pitchFamily="18" charset="0"/>
              </a:rPr>
              <a:t>IoT</a:t>
            </a:r>
          </a:p>
          <a:p>
            <a:pPr marL="571500" indent="-571500" algn="just" eaLnBrk="0" fontAlgn="base" hangingPunct="0">
              <a:lnSpc>
                <a:spcPct val="150000"/>
              </a:lnSpc>
              <a:spcBef>
                <a:spcPct val="20000"/>
              </a:spcBef>
              <a:spcAft>
                <a:spcPct val="0"/>
              </a:spcAft>
              <a:buClr>
                <a:srgbClr val="00007D"/>
              </a:buClr>
              <a:buSzPct val="126000"/>
            </a:pPr>
            <a:r>
              <a:rPr lang="en-US" sz="2400" dirty="0">
                <a:solidFill>
                  <a:prstClr val="black"/>
                </a:solidFill>
                <a:latin typeface="Times New Roman" panose="02020603050405020304" pitchFamily="18" charset="0"/>
                <a:cs typeface="Times New Roman" panose="02020603050405020304" pitchFamily="18" charset="0"/>
              </a:rPr>
              <a:t>RTC</a:t>
            </a:r>
          </a:p>
          <a:p>
            <a:pPr marL="571500" indent="-571500" algn="just" eaLnBrk="0" fontAlgn="base" hangingPunct="0">
              <a:lnSpc>
                <a:spcPct val="150000"/>
              </a:lnSpc>
              <a:spcBef>
                <a:spcPct val="20000"/>
              </a:spcBef>
              <a:spcAft>
                <a:spcPct val="0"/>
              </a:spcAft>
              <a:buClr>
                <a:srgbClr val="00007D"/>
              </a:buClr>
              <a:buSzPct val="126000"/>
            </a:pPr>
            <a:r>
              <a:rPr lang="en-US" sz="2400" dirty="0">
                <a:solidFill>
                  <a:prstClr val="black"/>
                </a:solidFill>
                <a:latin typeface="Times New Roman" panose="02020603050405020304" pitchFamily="18" charset="0"/>
                <a:cs typeface="Times New Roman" panose="02020603050405020304" pitchFamily="18" charset="0"/>
              </a:rPr>
              <a:t>Buzzer</a:t>
            </a:r>
          </a:p>
          <a:p>
            <a:endParaRPr lang="en-US" sz="2400" dirty="0">
              <a:solidFill>
                <a:prstClr val="black"/>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0183BA4-7B10-4BE3-A0B2-A48721054ED6}" type="slidenum">
              <a:rPr lang="en-IN" smtClean="0"/>
              <a:t>9</a:t>
            </a:fld>
            <a:endParaRPr lang="en-IN"/>
          </a:p>
        </p:txBody>
      </p:sp>
      <p:sp>
        <p:nvSpPr>
          <p:cNvPr id="6" name="TextBox 5">
            <a:extLst>
              <a:ext uri="{FF2B5EF4-FFF2-40B4-BE49-F238E27FC236}">
                <a16:creationId xmlns:a16="http://schemas.microsoft.com/office/drawing/2014/main" id="{5BCED3F8-D3EE-9BF7-9B64-E42BF2F44011}"/>
              </a:ext>
            </a:extLst>
          </p:cNvPr>
          <p:cNvSpPr txBox="1"/>
          <p:nvPr/>
        </p:nvSpPr>
        <p:spPr>
          <a:xfrm>
            <a:off x="7045960" y="1381760"/>
            <a:ext cx="2946400" cy="2769989"/>
          </a:xfrm>
          <a:prstGeom prst="rect">
            <a:avLst/>
          </a:prstGeom>
          <a:noFill/>
        </p:spPr>
        <p:txBody>
          <a:bodyPr wrap="square" rtlCol="0">
            <a:spAutoFit/>
          </a:bodyPr>
          <a:lstStyle/>
          <a:p>
            <a:r>
              <a:rPr lang="en-IN" sz="2600" b="1" dirty="0">
                <a:latin typeface="Times New Roman" panose="02020603050405020304" pitchFamily="18" charset="0"/>
                <a:cs typeface="Times New Roman" panose="02020603050405020304" pitchFamily="18" charset="0"/>
              </a:rPr>
              <a:t>Software used:</a:t>
            </a:r>
          </a:p>
          <a:p>
            <a:endParaRPr lang="en-IN" sz="26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Arduino IDE</a:t>
            </a:r>
          </a:p>
          <a:p>
            <a:endParaRPr lang="en-IN"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Embedded C</a:t>
            </a:r>
          </a:p>
          <a:p>
            <a:pPr marL="457200" indent="-4572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IN"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252EEA-1993-E867-2227-BE71534ACC2E}"/>
              </a:ext>
            </a:extLst>
          </p:cNvPr>
          <p:cNvSpPr>
            <a:spLocks noGrp="1"/>
          </p:cNvSpPr>
          <p:nvPr>
            <p:ph type="dt" sz="half" idx="10"/>
          </p:nvPr>
        </p:nvSpPr>
        <p:spPr/>
        <p:txBody>
          <a:bodyPr/>
          <a:lstStyle/>
          <a:p>
            <a:fld id="{A18A7FA7-F693-4DFB-AEDA-FE633EEC95AF}" type="datetime1">
              <a:rPr lang="en-IN" smtClean="0"/>
              <a:t>31-10-2023</a:t>
            </a:fld>
            <a:endParaRPr lang="en-IN"/>
          </a:p>
        </p:txBody>
      </p:sp>
      <p:sp>
        <p:nvSpPr>
          <p:cNvPr id="3" name="Slide Number Placeholder 2">
            <a:extLst>
              <a:ext uri="{FF2B5EF4-FFF2-40B4-BE49-F238E27FC236}">
                <a16:creationId xmlns:a16="http://schemas.microsoft.com/office/drawing/2014/main" id="{DA27CFB9-3530-E2B4-E906-D817DE2A1A9E}"/>
              </a:ext>
            </a:extLst>
          </p:cNvPr>
          <p:cNvSpPr>
            <a:spLocks noGrp="1"/>
          </p:cNvSpPr>
          <p:nvPr>
            <p:ph type="sldNum" sz="quarter" idx="12"/>
          </p:nvPr>
        </p:nvSpPr>
        <p:spPr/>
        <p:txBody>
          <a:bodyPr/>
          <a:lstStyle/>
          <a:p>
            <a:fld id="{A0183BA4-7B10-4BE3-A0B2-A48721054ED6}" type="slidenum">
              <a:rPr lang="en-IN" smtClean="0"/>
              <a:t>10</a:t>
            </a:fld>
            <a:endParaRPr lang="en-IN"/>
          </a:p>
        </p:txBody>
      </p:sp>
      <p:sp>
        <p:nvSpPr>
          <p:cNvPr id="4" name="Content Placeholder 2">
            <a:extLst>
              <a:ext uri="{FF2B5EF4-FFF2-40B4-BE49-F238E27FC236}">
                <a16:creationId xmlns:a16="http://schemas.microsoft.com/office/drawing/2014/main" id="{080CA474-6D29-3FC3-E7C4-3E6604B3128F}"/>
              </a:ext>
            </a:extLst>
          </p:cNvPr>
          <p:cNvSpPr txBox="1">
            <a:spLocks/>
          </p:cNvSpPr>
          <p:nvPr/>
        </p:nvSpPr>
        <p:spPr>
          <a:xfrm>
            <a:off x="838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altLang="en-US" sz="2400" dirty="0">
                <a:latin typeface="Times New Roman" panose="02020603050405020304" pitchFamily="18" charset="0"/>
                <a:cs typeface="Times New Roman" panose="02020603050405020304" pitchFamily="18" charset="0"/>
              </a:rPr>
              <a:t># include &lt; </a:t>
            </a:r>
            <a:r>
              <a:rPr lang="en-IN" altLang="en-US" sz="2400" dirty="0" err="1">
                <a:latin typeface="Times New Roman" panose="02020603050405020304" pitchFamily="18" charset="0"/>
                <a:cs typeface="Times New Roman" panose="02020603050405020304" pitchFamily="18" charset="0"/>
              </a:rPr>
              <a:t>LCD.h</a:t>
            </a:r>
            <a:r>
              <a:rPr lang="en-IN" altLang="en-US" sz="2400" dirty="0">
                <a:latin typeface="Times New Roman" panose="02020603050405020304" pitchFamily="18" charset="0"/>
                <a:cs typeface="Times New Roman" panose="02020603050405020304" pitchFamily="18" charset="0"/>
              </a:rPr>
              <a:t>&gt;</a:t>
            </a:r>
          </a:p>
          <a:p>
            <a:pPr marL="0" indent="0">
              <a:buFont typeface="Arial" panose="020B0604020202020204" pitchFamily="34" charset="0"/>
              <a:buNone/>
            </a:pPr>
            <a:r>
              <a:rPr lang="en-IN" altLang="en-US" sz="2400" dirty="0">
                <a:latin typeface="Times New Roman" panose="02020603050405020304" pitchFamily="18" charset="0"/>
                <a:cs typeface="Times New Roman" panose="02020603050405020304" pitchFamily="18" charset="0"/>
                <a:sym typeface="+mn-ea"/>
              </a:rPr>
              <a:t># include &lt; </a:t>
            </a:r>
            <a:r>
              <a:rPr lang="en-IN" altLang="en-US" sz="2400" dirty="0" err="1">
                <a:latin typeface="Times New Roman" panose="02020603050405020304" pitchFamily="18" charset="0"/>
                <a:cs typeface="Times New Roman" panose="02020603050405020304" pitchFamily="18" charset="0"/>
                <a:sym typeface="+mn-ea"/>
              </a:rPr>
              <a:t>Wifi.h</a:t>
            </a:r>
            <a:r>
              <a:rPr lang="en-IN" altLang="en-US" sz="2400" dirty="0">
                <a:latin typeface="Times New Roman" panose="02020603050405020304" pitchFamily="18" charset="0"/>
                <a:cs typeface="Times New Roman" panose="02020603050405020304" pitchFamily="18" charset="0"/>
                <a:sym typeface="+mn-ea"/>
              </a:rPr>
              <a:t>&gt;</a:t>
            </a:r>
          </a:p>
          <a:p>
            <a:pPr marL="0" indent="0">
              <a:buFont typeface="Arial" panose="020B0604020202020204" pitchFamily="34" charset="0"/>
              <a:buNone/>
            </a:pPr>
            <a:r>
              <a:rPr lang="en-IN" altLang="en-US" sz="2400" dirty="0">
                <a:latin typeface="Times New Roman" panose="02020603050405020304" pitchFamily="18" charset="0"/>
                <a:cs typeface="Times New Roman" panose="02020603050405020304" pitchFamily="18" charset="0"/>
                <a:sym typeface="+mn-ea"/>
              </a:rPr>
              <a:t># include &lt; </a:t>
            </a:r>
            <a:r>
              <a:rPr lang="en-IN" altLang="en-US" sz="2400" dirty="0" err="1">
                <a:latin typeface="Times New Roman" panose="02020603050405020304" pitchFamily="18" charset="0"/>
                <a:cs typeface="Times New Roman" panose="02020603050405020304" pitchFamily="18" charset="0"/>
                <a:sym typeface="+mn-ea"/>
              </a:rPr>
              <a:t>Stdio.h</a:t>
            </a:r>
            <a:r>
              <a:rPr lang="en-IN" altLang="en-US" sz="2400" dirty="0">
                <a:latin typeface="Times New Roman" panose="02020603050405020304" pitchFamily="18" charset="0"/>
                <a:cs typeface="Times New Roman" panose="02020603050405020304" pitchFamily="18" charset="0"/>
                <a:sym typeface="+mn-ea"/>
              </a:rPr>
              <a:t>&gt;</a:t>
            </a:r>
          </a:p>
          <a:p>
            <a:pPr marL="0" indent="0">
              <a:buFont typeface="Arial" panose="020B0604020202020204" pitchFamily="34" charset="0"/>
              <a:buNone/>
            </a:pPr>
            <a:r>
              <a:rPr lang="en-IN" altLang="en-US" sz="2400" dirty="0">
                <a:latin typeface="Times New Roman" panose="02020603050405020304" pitchFamily="18" charset="0"/>
                <a:cs typeface="Times New Roman" panose="02020603050405020304" pitchFamily="18" charset="0"/>
                <a:sym typeface="+mn-ea"/>
              </a:rPr>
              <a:t> int buzzer = 10;</a:t>
            </a:r>
          </a:p>
          <a:p>
            <a:pPr marL="0" indent="0">
              <a:buFont typeface="Arial" panose="020B0604020202020204" pitchFamily="34" charset="0"/>
              <a:buNone/>
            </a:pPr>
            <a:r>
              <a:rPr lang="en-IN" altLang="en-US" sz="2400" dirty="0">
                <a:latin typeface="Times New Roman" panose="02020603050405020304" pitchFamily="18" charset="0"/>
                <a:cs typeface="Times New Roman" panose="02020603050405020304" pitchFamily="18" charset="0"/>
                <a:sym typeface="+mn-ea"/>
              </a:rPr>
              <a:t> int lcd display = 08;</a:t>
            </a:r>
            <a:endParaRPr lang="en-IN" alt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IN" altLang="en-US" sz="2400" dirty="0">
                <a:latin typeface="Times New Roman" panose="02020603050405020304" pitchFamily="18" charset="0"/>
                <a:cs typeface="Times New Roman" panose="02020603050405020304" pitchFamily="18" charset="0"/>
                <a:sym typeface="+mn-ea"/>
              </a:rPr>
              <a:t> int </a:t>
            </a:r>
            <a:r>
              <a:rPr lang="en-IN" altLang="en-US" sz="2400" dirty="0" err="1">
                <a:latin typeface="Times New Roman" panose="02020603050405020304" pitchFamily="18" charset="0"/>
                <a:cs typeface="Times New Roman" panose="02020603050405020304" pitchFamily="18" charset="0"/>
                <a:sym typeface="+mn-ea"/>
              </a:rPr>
              <a:t>rtc</a:t>
            </a:r>
            <a:r>
              <a:rPr lang="en-IN" altLang="en-US" sz="2400" dirty="0">
                <a:latin typeface="Times New Roman" panose="02020603050405020304" pitchFamily="18" charset="0"/>
                <a:cs typeface="Times New Roman" panose="02020603050405020304" pitchFamily="18" charset="0"/>
                <a:sym typeface="+mn-ea"/>
              </a:rPr>
              <a:t> timer= 12;</a:t>
            </a:r>
            <a:endParaRPr lang="en-IN" alt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IN" altLang="en-US" sz="2400" dirty="0">
                <a:latin typeface="Times New Roman" panose="02020603050405020304" pitchFamily="18" charset="0"/>
                <a:cs typeface="Times New Roman" panose="02020603050405020304" pitchFamily="18" charset="0"/>
                <a:sym typeface="+mn-ea"/>
              </a:rPr>
              <a:t> int relay  = 13;</a:t>
            </a:r>
            <a:endParaRPr lang="en-IN" alt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IN" altLang="en-US" sz="2400" dirty="0">
                <a:latin typeface="Times New Roman" panose="02020603050405020304" pitchFamily="18" charset="0"/>
                <a:cs typeface="Times New Roman" panose="02020603050405020304" pitchFamily="18" charset="0"/>
                <a:sym typeface="+mn-ea"/>
              </a:rPr>
              <a:t>int  pump = 05;</a:t>
            </a:r>
            <a:endParaRPr lang="en-IN" alt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IN" altLang="en-US" sz="2400" dirty="0">
                <a:latin typeface="Times New Roman" panose="02020603050405020304" pitchFamily="18" charset="0"/>
                <a:cs typeface="Times New Roman" panose="02020603050405020304" pitchFamily="18" charset="0"/>
                <a:sym typeface="+mn-ea"/>
              </a:rPr>
              <a:t> </a:t>
            </a:r>
            <a:endParaRPr lang="en-IN" altLang="en-US" sz="2400" dirty="0">
              <a:latin typeface="Times New Roman" panose="02020603050405020304" pitchFamily="18" charset="0"/>
              <a:cs typeface="Times New Roman" panose="02020603050405020304" pitchFamily="18" charset="0"/>
            </a:endParaRPr>
          </a:p>
        </p:txBody>
      </p:sp>
      <p:sp>
        <p:nvSpPr>
          <p:cNvPr id="5" name="Content Placeholder 6">
            <a:extLst>
              <a:ext uri="{FF2B5EF4-FFF2-40B4-BE49-F238E27FC236}">
                <a16:creationId xmlns:a16="http://schemas.microsoft.com/office/drawing/2014/main" id="{FF62360B-97B9-7891-F1F8-D3FDE0DB6056}"/>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altLang="en-US" sz="2400" dirty="0">
                <a:latin typeface="Times New Roman" panose="02020603050405020304" pitchFamily="18" charset="0"/>
                <a:cs typeface="Times New Roman" panose="02020603050405020304" pitchFamily="18" charset="0"/>
                <a:sym typeface="+mn-ea"/>
              </a:rPr>
              <a:t>Void Setup{</a:t>
            </a:r>
          </a:p>
          <a:p>
            <a:pPr marL="0" indent="0">
              <a:buFont typeface="Arial" panose="020B0604020202020204" pitchFamily="34" charset="0"/>
              <a:buNone/>
            </a:pPr>
            <a:r>
              <a:rPr lang="en-IN" altLang="en-US" sz="2400" dirty="0">
                <a:latin typeface="Times New Roman" panose="02020603050405020304" pitchFamily="18" charset="0"/>
                <a:cs typeface="Times New Roman" panose="02020603050405020304" pitchFamily="18" charset="0"/>
                <a:sym typeface="+mn-ea"/>
              </a:rPr>
              <a:t>pin mode (RTC,INPUT)</a:t>
            </a:r>
          </a:p>
          <a:p>
            <a:pPr marL="0" indent="0">
              <a:buFont typeface="Arial" panose="020B0604020202020204" pitchFamily="34" charset="0"/>
              <a:buNone/>
            </a:pPr>
            <a:r>
              <a:rPr lang="en-IN" altLang="en-US" sz="2400" dirty="0">
                <a:latin typeface="Times New Roman" panose="02020603050405020304" pitchFamily="18" charset="0"/>
                <a:cs typeface="Times New Roman" panose="02020603050405020304" pitchFamily="18" charset="0"/>
                <a:sym typeface="+mn-ea"/>
              </a:rPr>
              <a:t>pin mode (</a:t>
            </a:r>
            <a:r>
              <a:rPr lang="en-IN" altLang="en-US" sz="2400" dirty="0" err="1">
                <a:latin typeface="Times New Roman" panose="02020603050405020304" pitchFamily="18" charset="0"/>
                <a:cs typeface="Times New Roman" panose="02020603050405020304" pitchFamily="18" charset="0"/>
                <a:sym typeface="+mn-ea"/>
              </a:rPr>
              <a:t>Relay,INPUT</a:t>
            </a:r>
            <a:r>
              <a:rPr lang="en-IN" altLang="en-US" sz="2400" dirty="0">
                <a:latin typeface="Times New Roman" panose="02020603050405020304" pitchFamily="18" charset="0"/>
                <a:cs typeface="Times New Roman" panose="02020603050405020304" pitchFamily="18" charset="0"/>
                <a:sym typeface="+mn-ea"/>
              </a:rPr>
              <a:t>)</a:t>
            </a:r>
          </a:p>
          <a:p>
            <a:pPr marL="0" indent="0">
              <a:buFont typeface="Arial" panose="020B0604020202020204" pitchFamily="34" charset="0"/>
              <a:buNone/>
            </a:pPr>
            <a:r>
              <a:rPr lang="en-IN" altLang="en-US" sz="2400" dirty="0">
                <a:latin typeface="Times New Roman" panose="02020603050405020304" pitchFamily="18" charset="0"/>
                <a:cs typeface="Times New Roman" panose="02020603050405020304" pitchFamily="18" charset="0"/>
                <a:sym typeface="+mn-ea"/>
              </a:rPr>
              <a:t>pin mode (LCD,OUTPUT)</a:t>
            </a:r>
          </a:p>
          <a:p>
            <a:pPr marL="0" indent="0">
              <a:buFont typeface="Arial" panose="020B0604020202020204" pitchFamily="34" charset="0"/>
              <a:buNone/>
            </a:pPr>
            <a:r>
              <a:rPr lang="en-IN" altLang="en-US" sz="2400" dirty="0">
                <a:latin typeface="Times New Roman" panose="02020603050405020304" pitchFamily="18" charset="0"/>
                <a:cs typeface="Times New Roman" panose="02020603050405020304" pitchFamily="18" charset="0"/>
                <a:sym typeface="+mn-ea"/>
              </a:rPr>
              <a:t>pin mode (</a:t>
            </a:r>
            <a:r>
              <a:rPr lang="en-IN" altLang="en-US" sz="2400" dirty="0" err="1">
                <a:latin typeface="Times New Roman" panose="02020603050405020304" pitchFamily="18" charset="0"/>
                <a:cs typeface="Times New Roman" panose="02020603050405020304" pitchFamily="18" charset="0"/>
                <a:sym typeface="+mn-ea"/>
              </a:rPr>
              <a:t>Buzzer,OUTPUT</a:t>
            </a:r>
            <a:r>
              <a:rPr lang="en-IN" altLang="en-US" sz="2400" dirty="0">
                <a:latin typeface="Times New Roman" panose="02020603050405020304" pitchFamily="18" charset="0"/>
                <a:cs typeface="Times New Roman" panose="02020603050405020304" pitchFamily="18" charset="0"/>
                <a:sym typeface="+mn-ea"/>
              </a:rPr>
              <a:t>)</a:t>
            </a:r>
          </a:p>
          <a:p>
            <a:pPr marL="0" indent="0">
              <a:buFont typeface="Arial" panose="020B0604020202020204" pitchFamily="34" charset="0"/>
              <a:buNone/>
            </a:pPr>
            <a:r>
              <a:rPr lang="en-IN" altLang="en-US" sz="2400" dirty="0">
                <a:latin typeface="Times New Roman" panose="02020603050405020304" pitchFamily="18" charset="0"/>
                <a:cs typeface="Times New Roman" panose="02020603050405020304" pitchFamily="18" charset="0"/>
                <a:sym typeface="+mn-ea"/>
              </a:rPr>
              <a:t>pin mode (</a:t>
            </a:r>
            <a:r>
              <a:rPr lang="en-IN" altLang="en-US" sz="2400" dirty="0" err="1">
                <a:latin typeface="Times New Roman" panose="02020603050405020304" pitchFamily="18" charset="0"/>
                <a:cs typeface="Times New Roman" panose="02020603050405020304" pitchFamily="18" charset="0"/>
                <a:sym typeface="+mn-ea"/>
              </a:rPr>
              <a:t>Pump,OUTPUT</a:t>
            </a:r>
            <a:r>
              <a:rPr lang="en-IN" altLang="en-US" sz="2400" dirty="0">
                <a:latin typeface="Times New Roman" panose="02020603050405020304" pitchFamily="18" charset="0"/>
                <a:cs typeface="Times New Roman" panose="02020603050405020304" pitchFamily="18" charset="0"/>
                <a:sym typeface="+mn-ea"/>
              </a:rPr>
              <a:t>)</a:t>
            </a:r>
            <a:endParaRPr lang="en-IN" alt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IN" altLang="en-US" sz="2400" dirty="0">
                <a:latin typeface="Times New Roman" panose="02020603050405020304" pitchFamily="18" charset="0"/>
                <a:cs typeface="Times New Roman" panose="02020603050405020304" pitchFamily="18" charset="0"/>
                <a:sym typeface="+mn-ea"/>
              </a:rPr>
              <a:t> }</a:t>
            </a:r>
            <a:endParaRPr lang="en-US" sz="2400"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C4660CED-8420-F60D-9F19-6B48C43E0F3B}"/>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altLang="en-US" sz="3600" b="1">
                <a:latin typeface="Times New Roman" panose="02020603050405020304" pitchFamily="18" charset="0"/>
                <a:cs typeface="Times New Roman" panose="02020603050405020304" pitchFamily="18" charset="0"/>
              </a:rPr>
              <a:t>SOURCE CODE</a:t>
            </a:r>
            <a:endParaRPr lang="en-IN" alt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8876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REFERENCES </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18160" y="330200"/>
            <a:ext cx="11163935" cy="5847080"/>
          </a:xfrm>
        </p:spPr>
        <p:txBody>
          <a:bodyPr>
            <a:normAutofit fontScale="25000" lnSpcReduction="20000"/>
          </a:bodyPr>
          <a:lstStyle/>
          <a:p>
            <a:pPr marL="0" lvl="0" indent="0" algn="just">
              <a:buNone/>
            </a:pPr>
            <a:endParaRPr lang="en-IN" dirty="0">
              <a:latin typeface="Times New Roman" panose="02020603050405020304" pitchFamily="18" charset="0"/>
              <a:cs typeface="Times New Roman" panose="02020603050405020304" pitchFamily="18" charset="0"/>
            </a:endParaRPr>
          </a:p>
          <a:p>
            <a:endParaRPr lang="en-IN" dirty="0"/>
          </a:p>
          <a:p>
            <a:pPr marL="0" indent="0">
              <a:lnSpc>
                <a:spcPct val="150000"/>
              </a:lnSpc>
              <a:buNone/>
            </a:pPr>
            <a:r>
              <a:rPr lang="en-IN" sz="8800" dirty="0">
                <a:latin typeface="Times New Roman" panose="02020603050405020304" pitchFamily="18" charset="0"/>
                <a:cs typeface="Times New Roman" panose="02020603050405020304" pitchFamily="18" charset="0"/>
              </a:rPr>
              <a:t>[1] T. Baranidharan, A.Chinnadurai, R.M.Gowri, J. Karthikeyan. “Automated Water Distribution System Using PLC And SCADA”  IJEEE, Volume 07, Issue 01, Jan- June 2020</a:t>
            </a:r>
          </a:p>
          <a:p>
            <a:pPr marL="0" indent="0">
              <a:lnSpc>
                <a:spcPct val="150000"/>
              </a:lnSpc>
              <a:buNone/>
            </a:pPr>
            <a:r>
              <a:rPr lang="en-IN" sz="8800" dirty="0">
                <a:latin typeface="Times New Roman" panose="02020603050405020304" pitchFamily="18" charset="0"/>
                <a:cs typeface="Times New Roman" panose="02020603050405020304" pitchFamily="18" charset="0"/>
              </a:rPr>
              <a:t>[2] Sujeet Rote, AdarshMourya, Tanmay Oak, Prof. Abhimanyu Yadav. “Automatic Water Distribution System using PLC” International Journal of Engineering Research &amp; Technology (IJERT) (ISSN: 2278-0181) Vol. 6 Issue 04, April-2019</a:t>
            </a:r>
          </a:p>
          <a:p>
            <a:pPr marL="0" indent="0">
              <a:lnSpc>
                <a:spcPct val="150000"/>
              </a:lnSpc>
              <a:buNone/>
            </a:pPr>
            <a:r>
              <a:rPr lang="en-IN" sz="8800" dirty="0">
                <a:latin typeface="Times New Roman" panose="02020603050405020304" pitchFamily="18" charset="0"/>
                <a:cs typeface="Times New Roman" panose="02020603050405020304" pitchFamily="18" charset="0"/>
              </a:rPr>
              <a:t>[3]Mr. </a:t>
            </a:r>
            <a:r>
              <a:rPr lang="en-IN" sz="8800" dirty="0" err="1">
                <a:latin typeface="Times New Roman" panose="02020603050405020304" pitchFamily="18" charset="0"/>
                <a:cs typeface="Times New Roman" panose="02020603050405020304" pitchFamily="18" charset="0"/>
              </a:rPr>
              <a:t>Prashantpalkar</a:t>
            </a:r>
            <a:r>
              <a:rPr lang="en-IN" sz="8800" dirty="0">
                <a:latin typeface="Times New Roman" panose="02020603050405020304" pitchFamily="18" charset="0"/>
                <a:cs typeface="Times New Roman" panose="02020603050405020304" pitchFamily="18" charset="0"/>
              </a:rPr>
              <a:t>, Prof. (</a:t>
            </a:r>
            <a:r>
              <a:rPr lang="en-IN" sz="8800" dirty="0" err="1">
                <a:latin typeface="Times New Roman" panose="02020603050405020304" pitchFamily="18" charset="0"/>
                <a:cs typeface="Times New Roman" panose="02020603050405020304" pitchFamily="18" charset="0"/>
              </a:rPr>
              <a:t>Dr.</a:t>
            </a:r>
            <a:r>
              <a:rPr lang="en-IN" sz="8800" dirty="0">
                <a:latin typeface="Times New Roman" panose="02020603050405020304" pitchFamily="18" charset="0"/>
                <a:cs typeface="Times New Roman" panose="02020603050405020304" pitchFamily="18" charset="0"/>
              </a:rPr>
              <a:t>) </a:t>
            </a:r>
            <a:r>
              <a:rPr lang="en-IN" sz="8800" dirty="0" err="1">
                <a:latin typeface="Times New Roman" panose="02020603050405020304" pitchFamily="18" charset="0"/>
                <a:cs typeface="Times New Roman" panose="02020603050405020304" pitchFamily="18" charset="0"/>
              </a:rPr>
              <a:t>ShrinivasPatil</a:t>
            </a:r>
            <a:r>
              <a:rPr lang="en-IN" sz="8800" dirty="0">
                <a:latin typeface="Times New Roman" panose="02020603050405020304" pitchFamily="18" charset="0"/>
                <a:cs typeface="Times New Roman" panose="02020603050405020304" pitchFamily="18" charset="0"/>
              </a:rPr>
              <a:t>, Prof. Mrs. </a:t>
            </a:r>
            <a:r>
              <a:rPr lang="en-IN" sz="8800" dirty="0" err="1">
                <a:latin typeface="Times New Roman" panose="02020603050405020304" pitchFamily="18" charset="0"/>
                <a:cs typeface="Times New Roman" panose="02020603050405020304" pitchFamily="18" charset="0"/>
              </a:rPr>
              <a:t>PoojaBelagali</a:t>
            </a:r>
            <a:r>
              <a:rPr lang="en-IN" sz="8800" dirty="0">
                <a:latin typeface="Times New Roman" panose="02020603050405020304" pitchFamily="18" charset="0"/>
                <a:cs typeface="Times New Roman" panose="02020603050405020304" pitchFamily="18" charset="0"/>
              </a:rPr>
              <a:t>, Mr. </a:t>
            </a:r>
            <a:r>
              <a:rPr lang="en-IN" sz="8800" dirty="0" err="1">
                <a:latin typeface="Times New Roman" panose="02020603050405020304" pitchFamily="18" charset="0"/>
                <a:cs typeface="Times New Roman" panose="02020603050405020304" pitchFamily="18" charset="0"/>
              </a:rPr>
              <a:t>AshishChougule</a:t>
            </a:r>
            <a:r>
              <a:rPr lang="en-IN" sz="8800" dirty="0">
                <a:latin typeface="Times New Roman" panose="02020603050405020304" pitchFamily="18" charset="0"/>
                <a:cs typeface="Times New Roman" panose="02020603050405020304" pitchFamily="18" charset="0"/>
              </a:rPr>
              <a:t>. “Automation in Drinking Water Supply Distributed System and Testing Of Water” IOSR Journal of Electronics &amp; Communication Engineering (IOSR-JECE),2018</a:t>
            </a:r>
          </a:p>
          <a:p>
            <a:pPr marL="0" indent="0">
              <a:lnSpc>
                <a:spcPct val="150000"/>
              </a:lnSpc>
              <a:buNone/>
            </a:pPr>
            <a:r>
              <a:rPr lang="en-IN" sz="8800" dirty="0">
                <a:latin typeface="Times New Roman" panose="02020603050405020304" pitchFamily="18" charset="0"/>
                <a:cs typeface="Times New Roman" panose="02020603050405020304" pitchFamily="18" charset="0"/>
              </a:rPr>
              <a:t>[4] </a:t>
            </a:r>
            <a:r>
              <a:rPr lang="en-US" sz="8800" dirty="0">
                <a:latin typeface="Times New Roman" panose="02020603050405020304" pitchFamily="18" charset="0"/>
                <a:ea typeface="Calibri" panose="020F0502020204030204"/>
                <a:cs typeface="Times New Roman" panose="02020603050405020304" pitchFamily="18" charset="0"/>
              </a:rPr>
              <a:t>Ling Fu “</a:t>
            </a:r>
            <a:r>
              <a:rPr lang="en-IN" sz="8800" dirty="0">
                <a:latin typeface="Times New Roman" panose="02020603050405020304" pitchFamily="18" charset="0"/>
                <a:cs typeface="Times New Roman" panose="02020603050405020304" pitchFamily="18" charset="0"/>
              </a:rPr>
              <a:t>Automation in Drinking Water Supply Distributed System and Testing Of Water” JETIR (ISSN-2349-5162), Volume 4, Issue 05, May 2017</a:t>
            </a:r>
          </a:p>
        </p:txBody>
      </p:sp>
      <p:sp>
        <p:nvSpPr>
          <p:cNvPr id="5" name="Slide Number Placeholder 4"/>
          <p:cNvSpPr>
            <a:spLocks noGrp="1"/>
          </p:cNvSpPr>
          <p:nvPr>
            <p:ph type="sldNum" sz="quarter" idx="12"/>
          </p:nvPr>
        </p:nvSpPr>
        <p:spPr/>
        <p:txBody>
          <a:bodyPr/>
          <a:lstStyle/>
          <a:p>
            <a:fld id="{A0183BA4-7B10-4BE3-A0B2-A48721054ED6}" type="slidenum">
              <a:rPr lang="en-IN" smtClean="0"/>
              <a:t>11</a:t>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827175"/>
            <a:ext cx="12192000" cy="1203649"/>
          </a:xfrm>
        </p:spPr>
        <p:txBody>
          <a:bodyPr>
            <a:normAutofit/>
          </a:bodyPr>
          <a:lstStyle/>
          <a:p>
            <a:pPr algn="ctr"/>
            <a:r>
              <a:rPr lang="en-IN" sz="3600" b="1" dirty="0">
                <a:latin typeface="Times New Roman" panose="02020603050405020304" pitchFamily="18" charset="0"/>
                <a:cs typeface="Times New Roman" panose="02020603050405020304" pitchFamily="18" charset="0"/>
              </a:rPr>
              <a:t>QUERIES ??</a:t>
            </a:r>
            <a:endParaRPr lang="en-IN"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0183BA4-7B10-4BE3-A0B2-A48721054ED6}" type="slidenum">
              <a:rPr lang="en-IN" smtClean="0"/>
              <a:t>12</a:t>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622" y="2827175"/>
            <a:ext cx="11684000" cy="1203649"/>
          </a:xfrm>
        </p:spPr>
        <p:txBody>
          <a:bodyPr/>
          <a:lstStyle/>
          <a:p>
            <a:pPr algn="ctr"/>
            <a:r>
              <a:rPr lang="en-IN" sz="3600" b="1" dirty="0">
                <a:latin typeface="Times New Roman" panose="02020603050405020304" pitchFamily="18" charset="0"/>
                <a:cs typeface="Times New Roman" panose="02020603050405020304" pitchFamily="18" charset="0"/>
              </a:rPr>
              <a:t>THANK YOU</a:t>
            </a:r>
            <a:endParaRPr lang="en-IN"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0183BA4-7B10-4BE3-A0B2-A48721054ED6}" type="slidenum">
              <a:rPr lang="en-IN" smtClean="0"/>
              <a:t>13</a:t>
            </a:fld>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1026</Words>
  <Application>Microsoft Office PowerPoint</Application>
  <PresentationFormat>Widescreen</PresentationFormat>
  <Paragraphs>134</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PowerPoint Presentation</vt:lpstr>
      <vt:lpstr>OUTLINE </vt:lpstr>
      <vt:lpstr>ABSTRACT</vt:lpstr>
      <vt:lpstr>INTRODUCTION</vt:lpstr>
      <vt:lpstr>LITERATURE SURVEY</vt:lpstr>
      <vt:lpstr>EXISTING SYSTEM</vt:lpstr>
      <vt:lpstr>PROPOSED SYSTEM</vt:lpstr>
      <vt:lpstr>Block Diagram</vt:lpstr>
      <vt:lpstr>MODULES (SPLIT – UP)</vt:lpstr>
      <vt:lpstr>PowerPoint Presentation</vt:lpstr>
      <vt:lpstr>REFERENCES </vt:lpstr>
      <vt:lpstr>QUERIES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Pravallika Reddy</dc:creator>
  <cp:lastModifiedBy>aravind marka</cp:lastModifiedBy>
  <cp:revision>122</cp:revision>
  <dcterms:created xsi:type="dcterms:W3CDTF">2021-05-18T14:01:00Z</dcterms:created>
  <dcterms:modified xsi:type="dcterms:W3CDTF">2023-10-31T04:22:52Z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97D276EF37DA4F32895F42EAE61492B1_13</vt:lpwstr>
  </property>
  <property fmtid="{D5CDD505-2E9C-101B-9397-08002B2CF9AE}" pid="3" name="KSOProductBuildVer">
    <vt:lpwstr>1033-12.2.0.13215</vt:lpwstr>
  </property>
</Properties>
</file>